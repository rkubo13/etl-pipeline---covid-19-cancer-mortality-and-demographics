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exend Light"/>
      <p:regular r:id="rId25"/>
      <p:bold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  <p:embeddedFont>
      <p:font typeface="Work Sans"/>
      <p:regular r:id="rId33"/>
      <p:bold r:id="rId34"/>
      <p:italic r:id="rId35"/>
      <p:boldItalic r:id="rId36"/>
    </p:embeddedFont>
    <p:embeddedFont>
      <p:font typeface="Archivo"/>
      <p:regular r:id="rId37"/>
      <p:bold r:id="rId38"/>
      <p:italic r:id="rId39"/>
      <p:boldItalic r:id="rId40"/>
    </p:embeddedFont>
    <p:embeddedFont>
      <p:font typeface="Nunito Black"/>
      <p:bold r:id="rId41"/>
      <p:boldItalic r:id="rId42"/>
    </p:embeddedFont>
    <p:embeddedFont>
      <p:font typeface="IBM Plex Mono"/>
      <p:regular r:id="rId43"/>
      <p:bold r:id="rId44"/>
      <p:italic r:id="rId45"/>
      <p:boldItalic r:id="rId46"/>
    </p:embeddedFont>
    <p:embeddedFont>
      <p:font typeface="Cambria Math"/>
      <p:regular r:id="rId47"/>
    </p:embeddedFont>
    <p:embeddedFont>
      <p:font typeface="Space Grotesk"/>
      <p:regular r:id="rId48"/>
      <p:bold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Bebas Neue"/>
      <p:regular r:id="rId54"/>
    </p:embeddedFont>
    <p:embeddedFont>
      <p:font typeface="Darker Grotesque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36">
          <p15:clr>
            <a:srgbClr val="747775"/>
          </p15:clr>
        </p15:guide>
        <p15:guide id="2" orient="horz" pos="11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F7CA86-E906-456C-B9C8-2AB948D06787}">
  <a:tblStyle styleId="{2BF7CA86-E906-456C-B9C8-2AB948D067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36" orient="horz"/>
        <p:guide pos="11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-boldItalic.fntdata"/><Relationship Id="rId42" Type="http://schemas.openxmlformats.org/officeDocument/2006/relationships/font" Target="fonts/NunitoBlack-boldItalic.fntdata"/><Relationship Id="rId41" Type="http://schemas.openxmlformats.org/officeDocument/2006/relationships/font" Target="fonts/NunitoBlack-bold.fntdata"/><Relationship Id="rId44" Type="http://schemas.openxmlformats.org/officeDocument/2006/relationships/font" Target="fonts/IBMPlexMono-bold.fntdata"/><Relationship Id="rId43" Type="http://schemas.openxmlformats.org/officeDocument/2006/relationships/font" Target="fonts/IBMPlexMono-regular.fntdata"/><Relationship Id="rId46" Type="http://schemas.openxmlformats.org/officeDocument/2006/relationships/font" Target="fonts/IBMPlexMono-boldItalic.fntdata"/><Relationship Id="rId45" Type="http://schemas.openxmlformats.org/officeDocument/2006/relationships/font" Target="fonts/IBMPlex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SpaceGrotesk-regular.fntdata"/><Relationship Id="rId47" Type="http://schemas.openxmlformats.org/officeDocument/2006/relationships/font" Target="fonts/CambriaMath-regular.fntdata"/><Relationship Id="rId49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regular.fntdata"/><Relationship Id="rId30" Type="http://schemas.openxmlformats.org/officeDocument/2006/relationships/font" Target="fonts/Nunito-boldItalic.fntdata"/><Relationship Id="rId33" Type="http://schemas.openxmlformats.org/officeDocument/2006/relationships/font" Target="fonts/WorkSans-regular.fntdata"/><Relationship Id="rId32" Type="http://schemas.openxmlformats.org/officeDocument/2006/relationships/font" Target="fonts/MavenPro-bold.fntdata"/><Relationship Id="rId35" Type="http://schemas.openxmlformats.org/officeDocument/2006/relationships/font" Target="fonts/WorkSans-italic.fntdata"/><Relationship Id="rId34" Type="http://schemas.openxmlformats.org/officeDocument/2006/relationships/font" Target="fonts/WorkSans-bold.fntdata"/><Relationship Id="rId37" Type="http://schemas.openxmlformats.org/officeDocument/2006/relationships/font" Target="fonts/Archivo-regular.fntdata"/><Relationship Id="rId36" Type="http://schemas.openxmlformats.org/officeDocument/2006/relationships/font" Target="fonts/WorkSans-boldItalic.fntdata"/><Relationship Id="rId39" Type="http://schemas.openxmlformats.org/officeDocument/2006/relationships/font" Target="fonts/Archivo-italic.fntdata"/><Relationship Id="rId38" Type="http://schemas.openxmlformats.org/officeDocument/2006/relationships/font" Target="fonts/Archiv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29" Type="http://schemas.openxmlformats.org/officeDocument/2006/relationships/font" Target="fonts/Nunito-italic.fntdata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5.xml"/><Relationship Id="rId55" Type="http://schemas.openxmlformats.org/officeDocument/2006/relationships/font" Target="fonts/DarkerGrotesque-regular.fntdata"/><Relationship Id="rId10" Type="http://schemas.openxmlformats.org/officeDocument/2006/relationships/slide" Target="slides/slide4.xml"/><Relationship Id="rId54" Type="http://schemas.openxmlformats.org/officeDocument/2006/relationships/font" Target="fonts/BebasNeu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DarkerGrotesque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409939e5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d409939e5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d409939e5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d409939e5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d409939e5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d409939e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d409939e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d409939e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Prisha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d409939e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d409939e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d409939e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d409939e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e5dfeb3a6_2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e5dfeb3a6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e5dfeb3a6_2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e5dfeb3a6_2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d409939e5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d409939e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d409939e5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d409939e5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Prisha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d409939e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ad409939e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d409939e5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d409939e5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db610b5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db610b5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d409939e5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d409939e5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46E6E"/>
                </a:solidFill>
                <a:latin typeface="Maven Pro"/>
                <a:ea typeface="Maven Pro"/>
                <a:cs typeface="Maven Pro"/>
                <a:sym typeface="Maven Pro"/>
              </a:rPr>
              <a:t>Correlation Heatmap: </a:t>
            </a:r>
            <a:r>
              <a:rPr lang="en" sz="1200">
                <a:solidFill>
                  <a:srgbClr val="746E6E"/>
                </a:solidFill>
                <a:latin typeface="Maven Pro"/>
                <a:ea typeface="Maven Pro"/>
                <a:cs typeface="Maven Pro"/>
                <a:sym typeface="Maven Pro"/>
              </a:rPr>
              <a:t>color-coded correlation matrix for standardized variables</a:t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46E6E"/>
              </a:buClr>
              <a:buSzPts val="1200"/>
              <a:buFont typeface="Maven Pro"/>
              <a:buChar char="-"/>
            </a:pPr>
            <a:r>
              <a:rPr lang="en" sz="1200">
                <a:solidFill>
                  <a:srgbClr val="746E6E"/>
                </a:solidFill>
                <a:latin typeface="Maven Pro"/>
                <a:ea typeface="Maven Pro"/>
                <a:cs typeface="Maven Pro"/>
                <a:sym typeface="Maven Pro"/>
              </a:rPr>
              <a:t>Helps identify any potential drivers to COVID-19 outcomes</a:t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46E6E"/>
              </a:buClr>
              <a:buSzPts val="1200"/>
              <a:buFont typeface="Maven Pro"/>
              <a:buChar char="-"/>
            </a:pPr>
            <a:r>
              <a:rPr lang="en" sz="1200">
                <a:solidFill>
                  <a:srgbClr val="746E6E"/>
                </a:solidFill>
                <a:latin typeface="Maven Pro"/>
                <a:ea typeface="Maven Pro"/>
                <a:cs typeface="Maven Pro"/>
                <a:sym typeface="Maven Pro"/>
              </a:rPr>
              <a:t>The darker the color, the stronger the relationship between two variables</a:t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746E6E"/>
              </a:buClr>
              <a:buSzPts val="1200"/>
              <a:buFont typeface="Maven Pro"/>
              <a:buChar char="-"/>
            </a:pPr>
            <a:r>
              <a:rPr lang="en" sz="1200">
                <a:solidFill>
                  <a:srgbClr val="746E6E"/>
                </a:solidFill>
                <a:latin typeface="Maven Pro"/>
                <a:ea typeface="Maven Pro"/>
                <a:cs typeface="Maven Pro"/>
                <a:sym typeface="Maven Pro"/>
              </a:rPr>
              <a:t>Blue (-1) means negative relationship, red (1) means positive relationship</a:t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Correlation Coefficient r between 'Black Pct (%)' and 'COVID Deaths per 100K': 0.22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Coefficient of Determination R^2 between 'Black Pct (%)' and 'COVID Deaths per 100K': 0.048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Correlation Coefficient r between 'Hispanic/Latino Pct (%)' and 'COVID Deaths per 100K': 0.125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Coefficient of Determination R^2 between 'Hispanic/Latino Pct (%)' and 'COVID Deaths per 100K': 0.016</a:t>
            </a:r>
            <a:endParaRPr sz="1200">
              <a:solidFill>
                <a:srgbClr val="746E6E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d409939e5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d409939e5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d409939e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ad409939e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Prisha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d409939e5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ad409939e5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kaggle.com/datasets/ahmedmohamed2003/county-level-demographic-population-race-gender" TargetMode="External"/><Relationship Id="rId4" Type="http://schemas.openxmlformats.org/officeDocument/2006/relationships/hyperlink" Target="https://www.kaggle.com/datasets/sudalairajkumar/covid19-in-usa" TargetMode="External"/><Relationship Id="rId5" Type="http://schemas.openxmlformats.org/officeDocument/2006/relationships/hyperlink" Target="https://www.kaggle.com/datasets/thedevastator/county-cancer-death-rates?select=death+.cs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253275" y="748950"/>
            <a:ext cx="5104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176 Final Project: Cancer, Covid, and Demographics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021575"/>
            <a:ext cx="4255500" cy="12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Prisha Marpu - pmarpu@purdue.edu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Rohan Baste-Bania - rbasteba@purdue.edu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Rishi Jain - jain855@purdue.edu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Rinta Kubo - rkubo@purdue.edu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298700" y="594392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Our Goal and Methodology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14"/>
          <p:cNvGrpSpPr/>
          <p:nvPr/>
        </p:nvGrpSpPr>
        <p:grpSpPr>
          <a:xfrm>
            <a:off x="6858000" y="2905303"/>
            <a:ext cx="2286000" cy="2238150"/>
            <a:chOff x="0" y="2295575"/>
            <a:chExt cx="2286000" cy="2847882"/>
          </a:xfrm>
        </p:grpSpPr>
        <p:grpSp>
          <p:nvGrpSpPr>
            <p:cNvPr id="285" name="Google Shape;285;p14"/>
            <p:cNvGrpSpPr/>
            <p:nvPr/>
          </p:nvGrpSpPr>
          <p:grpSpPr>
            <a:xfrm>
              <a:off x="0" y="2295575"/>
              <a:ext cx="2286000" cy="2847882"/>
              <a:chOff x="0" y="2295575"/>
              <a:chExt cx="2286000" cy="2847882"/>
            </a:xfrm>
          </p:grpSpPr>
          <p:sp>
            <p:nvSpPr>
              <p:cNvPr id="286" name="Google Shape;286;p14"/>
              <p:cNvSpPr/>
              <p:nvPr/>
            </p:nvSpPr>
            <p:spPr>
              <a:xfrm>
                <a:off x="0" y="3050057"/>
                <a:ext cx="2286000" cy="20934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87" name="Google Shape;287;p14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288" name="Google Shape;288;p14"/>
            <p:cNvSpPr txBox="1"/>
            <p:nvPr/>
          </p:nvSpPr>
          <p:spPr>
            <a:xfrm>
              <a:off x="0" y="2295825"/>
              <a:ext cx="2210700" cy="7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>
                  <a:solidFill>
                    <a:srgbClr val="1B786F"/>
                  </a:solidFill>
                  <a:latin typeface="Nunito"/>
                  <a:ea typeface="Nunito"/>
                  <a:cs typeface="Nunito"/>
                  <a:sym typeface="Nunito"/>
                </a:rPr>
                <a:t>4. Exploratory Data Analysis</a:t>
              </a:r>
              <a:endParaRPr>
                <a:solidFill>
                  <a:srgbClr val="5E5E5E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89" name="Google Shape;289;p14"/>
          <p:cNvGrpSpPr/>
          <p:nvPr/>
        </p:nvGrpSpPr>
        <p:grpSpPr>
          <a:xfrm>
            <a:off x="2286000" y="2905528"/>
            <a:ext cx="2286000" cy="2238150"/>
            <a:chOff x="0" y="2295575"/>
            <a:chExt cx="2286000" cy="2847882"/>
          </a:xfrm>
        </p:grpSpPr>
        <p:grpSp>
          <p:nvGrpSpPr>
            <p:cNvPr id="290" name="Google Shape;290;p14"/>
            <p:cNvGrpSpPr/>
            <p:nvPr/>
          </p:nvGrpSpPr>
          <p:grpSpPr>
            <a:xfrm>
              <a:off x="0" y="2295575"/>
              <a:ext cx="2286000" cy="2847882"/>
              <a:chOff x="0" y="2295575"/>
              <a:chExt cx="2286000" cy="2847882"/>
            </a:xfrm>
          </p:grpSpPr>
          <p:sp>
            <p:nvSpPr>
              <p:cNvPr id="291" name="Google Shape;291;p14"/>
              <p:cNvSpPr/>
              <p:nvPr/>
            </p:nvSpPr>
            <p:spPr>
              <a:xfrm>
                <a:off x="0" y="3050057"/>
                <a:ext cx="2286000" cy="20934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4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3" name="Google Shape;293;p14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cap="flat" cmpd="sng" w="9525">
              <a:solidFill>
                <a:srgbClr val="83E3DA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294" name="Google Shape;294;p14"/>
          <p:cNvGrpSpPr/>
          <p:nvPr/>
        </p:nvGrpSpPr>
        <p:grpSpPr>
          <a:xfrm>
            <a:off x="0" y="2905153"/>
            <a:ext cx="2331600" cy="2238219"/>
            <a:chOff x="0" y="2295575"/>
            <a:chExt cx="2331600" cy="2847969"/>
          </a:xfrm>
        </p:grpSpPr>
        <p:grpSp>
          <p:nvGrpSpPr>
            <p:cNvPr id="295" name="Google Shape;295;p14"/>
            <p:cNvGrpSpPr/>
            <p:nvPr/>
          </p:nvGrpSpPr>
          <p:grpSpPr>
            <a:xfrm>
              <a:off x="0" y="2295575"/>
              <a:ext cx="2286000" cy="2847969"/>
              <a:chOff x="0" y="2295575"/>
              <a:chExt cx="2286000" cy="2847969"/>
            </a:xfrm>
          </p:grpSpPr>
          <p:sp>
            <p:nvSpPr>
              <p:cNvPr id="296" name="Google Shape;296;p14"/>
              <p:cNvSpPr/>
              <p:nvPr/>
            </p:nvSpPr>
            <p:spPr>
              <a:xfrm>
                <a:off x="0" y="3046844"/>
                <a:ext cx="2286000" cy="20967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4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8" name="Google Shape;298;p14"/>
            <p:cNvSpPr txBox="1"/>
            <p:nvPr/>
          </p:nvSpPr>
          <p:spPr>
            <a:xfrm>
              <a:off x="0" y="2331039"/>
              <a:ext cx="2331600" cy="7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>
                  <a:solidFill>
                    <a:srgbClr val="1B786F"/>
                  </a:solidFill>
                  <a:latin typeface="Nunito"/>
                  <a:ea typeface="Nunito"/>
                  <a:cs typeface="Nunito"/>
                  <a:sym typeface="Nunito"/>
                </a:rPr>
                <a:t>1. </a:t>
              </a:r>
              <a:r>
                <a:rPr b="1" lang="en">
                  <a:solidFill>
                    <a:srgbClr val="1B786F"/>
                  </a:solidFill>
                  <a:latin typeface="Nunito"/>
                  <a:ea typeface="Nunito"/>
                  <a:cs typeface="Nunito"/>
                  <a:sym typeface="Nunito"/>
                </a:rPr>
                <a:t>Finding Data</a:t>
              </a:r>
              <a:endParaRPr b="1">
                <a:solidFill>
                  <a:srgbClr val="1B786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99" name="Google Shape;299;p14"/>
            <p:cNvSpPr txBox="1"/>
            <p:nvPr/>
          </p:nvSpPr>
          <p:spPr>
            <a:xfrm>
              <a:off x="0" y="3015767"/>
              <a:ext cx="22860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each county, we need…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00" name="Google Shape;300;p14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cap="flat" cmpd="sng" w="9525">
              <a:solidFill>
                <a:srgbClr val="83E3DA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301" name="Google Shape;301;p14"/>
          <p:cNvSpPr txBox="1"/>
          <p:nvPr/>
        </p:nvSpPr>
        <p:spPr>
          <a:xfrm>
            <a:off x="2286000" y="2905525"/>
            <a:ext cx="2286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1B786F"/>
                </a:solidFill>
                <a:latin typeface="Nunito"/>
                <a:ea typeface="Nunito"/>
                <a:cs typeface="Nunito"/>
                <a:sym typeface="Nunito"/>
              </a:rPr>
              <a:t>2. </a:t>
            </a:r>
            <a:r>
              <a:rPr b="1" lang="en">
                <a:solidFill>
                  <a:srgbClr val="1B786F"/>
                </a:solidFill>
                <a:latin typeface="Nunito"/>
                <a:ea typeface="Nunito"/>
                <a:cs typeface="Nunito"/>
                <a:sym typeface="Nunito"/>
              </a:rPr>
              <a:t>Loading &amp; Merging Data</a:t>
            </a:r>
            <a:endParaRPr b="1">
              <a:solidFill>
                <a:srgbClr val="1B786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02" name="Google Shape;302;p14"/>
          <p:cNvGrpSpPr/>
          <p:nvPr/>
        </p:nvGrpSpPr>
        <p:grpSpPr>
          <a:xfrm>
            <a:off x="4572000" y="2905353"/>
            <a:ext cx="2286000" cy="2238150"/>
            <a:chOff x="0" y="2295575"/>
            <a:chExt cx="2286000" cy="2847882"/>
          </a:xfrm>
        </p:grpSpPr>
        <p:grpSp>
          <p:nvGrpSpPr>
            <p:cNvPr id="303" name="Google Shape;303;p14"/>
            <p:cNvGrpSpPr/>
            <p:nvPr/>
          </p:nvGrpSpPr>
          <p:grpSpPr>
            <a:xfrm>
              <a:off x="0" y="2295575"/>
              <a:ext cx="2286000" cy="2847882"/>
              <a:chOff x="0" y="2295575"/>
              <a:chExt cx="2286000" cy="2847882"/>
            </a:xfrm>
          </p:grpSpPr>
          <p:sp>
            <p:nvSpPr>
              <p:cNvPr id="304" name="Google Shape;304;p14"/>
              <p:cNvSpPr/>
              <p:nvPr/>
            </p:nvSpPr>
            <p:spPr>
              <a:xfrm>
                <a:off x="0" y="3050057"/>
                <a:ext cx="2286000" cy="20934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06" name="Google Shape;306;p14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307" name="Google Shape;307;p14"/>
          <p:cNvSpPr txBox="1"/>
          <p:nvPr/>
        </p:nvSpPr>
        <p:spPr>
          <a:xfrm>
            <a:off x="4572000" y="2947550"/>
            <a:ext cx="2286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1B786F"/>
                </a:solidFill>
                <a:latin typeface="Nunito"/>
                <a:ea typeface="Nunito"/>
                <a:cs typeface="Nunito"/>
                <a:sym typeface="Nunito"/>
              </a:rPr>
              <a:t>3. Data Wrangling</a:t>
            </a:r>
            <a:endParaRPr sz="1000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2511325" y="3581875"/>
            <a:ext cx="1997400" cy="39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82A2C"/>
                </a:solidFill>
                <a:latin typeface="Nunito"/>
                <a:ea typeface="Nunito"/>
                <a:cs typeface="Nunito"/>
                <a:sym typeface="Nunito"/>
              </a:rPr>
              <a:t>Load all datasets</a:t>
            </a:r>
            <a:endParaRPr b="1">
              <a:solidFill>
                <a:srgbClr val="282A2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2511325" y="4123600"/>
            <a:ext cx="1997400" cy="39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82A2C"/>
                </a:solidFill>
                <a:latin typeface="Nunito"/>
                <a:ea typeface="Nunito"/>
                <a:cs typeface="Nunito"/>
                <a:sym typeface="Nunito"/>
              </a:rPr>
              <a:t>Merge all datasets</a:t>
            </a:r>
            <a:endParaRPr b="1">
              <a:solidFill>
                <a:srgbClr val="282A2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2511325" y="4653751"/>
            <a:ext cx="1997400" cy="39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82A2C"/>
                </a:solidFill>
                <a:latin typeface="Nunito"/>
                <a:ea typeface="Nunito"/>
                <a:cs typeface="Nunito"/>
                <a:sym typeface="Nunito"/>
              </a:rPr>
              <a:t>One unified, consolidated table</a:t>
            </a:r>
            <a:endParaRPr b="1" sz="1200">
              <a:solidFill>
                <a:srgbClr val="282A2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2285301" y="3547151"/>
            <a:ext cx="198600" cy="156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312" name="Google Shape;312;p14"/>
          <p:cNvGrpSpPr/>
          <p:nvPr/>
        </p:nvGrpSpPr>
        <p:grpSpPr>
          <a:xfrm>
            <a:off x="4690590" y="3562609"/>
            <a:ext cx="2150169" cy="1509647"/>
            <a:chOff x="3528938" y="224013"/>
            <a:chExt cx="2086125" cy="3327412"/>
          </a:xfrm>
        </p:grpSpPr>
        <p:cxnSp>
          <p:nvCxnSpPr>
            <p:cNvPr id="313" name="Google Shape;313;p14"/>
            <p:cNvCxnSpPr>
              <a:endCxn id="314" idx="4"/>
            </p:cNvCxnSpPr>
            <p:nvPr/>
          </p:nvCxnSpPr>
          <p:spPr>
            <a:xfrm>
              <a:off x="3830888" y="753913"/>
              <a:ext cx="0" cy="2797500"/>
            </a:xfrm>
            <a:prstGeom prst="straightConnector1">
              <a:avLst/>
            </a:prstGeom>
            <a:noFill/>
            <a:ln cap="flat" cmpd="sng" w="5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5" name="Google Shape;315;p14"/>
            <p:cNvSpPr txBox="1"/>
            <p:nvPr/>
          </p:nvSpPr>
          <p:spPr>
            <a:xfrm>
              <a:off x="4262363" y="905050"/>
              <a:ext cx="1352700" cy="6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14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Filter</a:t>
              </a:r>
              <a:endParaRPr sz="1514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6" name="Google Shape;316;p14"/>
            <p:cNvSpPr txBox="1"/>
            <p:nvPr/>
          </p:nvSpPr>
          <p:spPr>
            <a:xfrm>
              <a:off x="4262363" y="1585775"/>
              <a:ext cx="1352700" cy="6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4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Sort</a:t>
              </a:r>
              <a:endParaRPr sz="1414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7" name="Google Shape;317;p14"/>
            <p:cNvSpPr txBox="1"/>
            <p:nvPr/>
          </p:nvSpPr>
          <p:spPr>
            <a:xfrm>
              <a:off x="4262357" y="2215619"/>
              <a:ext cx="1352700" cy="6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9"/>
                <a:buFont typeface="Arial"/>
                <a:buNone/>
              </a:pPr>
              <a:r>
                <a:rPr lang="en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Aggregate</a:t>
              </a:r>
              <a:endParaRPr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8" name="Google Shape;318;p14"/>
            <p:cNvSpPr txBox="1"/>
            <p:nvPr/>
          </p:nvSpPr>
          <p:spPr>
            <a:xfrm>
              <a:off x="4251133" y="2947525"/>
              <a:ext cx="1352700" cy="6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4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Augment </a:t>
              </a:r>
              <a:endParaRPr sz="1414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9" name="Google Shape;319;p14"/>
            <p:cNvSpPr txBox="1"/>
            <p:nvPr/>
          </p:nvSpPr>
          <p:spPr>
            <a:xfrm>
              <a:off x="4262363" y="224025"/>
              <a:ext cx="1352700" cy="60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14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Clean Data </a:t>
              </a:r>
              <a:endParaRPr sz="1514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3528938" y="1585763"/>
              <a:ext cx="603900" cy="603900"/>
            </a:xfrm>
            <a:prstGeom prst="ellipse">
              <a:avLst/>
            </a:prstGeom>
            <a:solidFill>
              <a:srgbClr val="DCD1C5"/>
            </a:solidFill>
            <a:ln cap="flat" cmpd="sng" w="54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52275" spcFirstLastPara="1" rIns="52275" wrap="square" tIns="5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9"/>
                <a:buFont typeface="Arial"/>
                <a:buNone/>
              </a:pPr>
              <a:r>
                <a:rPr lang="en" sz="182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3</a:t>
              </a:r>
              <a:endParaRPr sz="8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3528938" y="2266638"/>
              <a:ext cx="603900" cy="603900"/>
            </a:xfrm>
            <a:prstGeom prst="ellipse">
              <a:avLst/>
            </a:prstGeom>
            <a:solidFill>
              <a:srgbClr val="E5E0DA"/>
            </a:solidFill>
            <a:ln cap="flat" cmpd="sng" w="54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52275" spcFirstLastPara="1" rIns="52275" wrap="square" tIns="5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9"/>
                <a:buFont typeface="Arial"/>
                <a:buNone/>
              </a:pPr>
              <a:r>
                <a:rPr lang="en" sz="182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endParaRPr sz="8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3528938" y="904888"/>
              <a:ext cx="603900" cy="603900"/>
            </a:xfrm>
            <a:prstGeom prst="ellipse">
              <a:avLst/>
            </a:prstGeom>
            <a:solidFill>
              <a:srgbClr val="D3C3B2"/>
            </a:solidFill>
            <a:ln cap="flat" cmpd="sng" w="54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52275" spcFirstLastPara="1" rIns="52275" wrap="square" tIns="5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9"/>
                <a:buFont typeface="Arial"/>
                <a:buNone/>
              </a:pPr>
              <a:r>
                <a:rPr lang="en" sz="182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sz="8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3528938" y="224013"/>
              <a:ext cx="603900" cy="603900"/>
            </a:xfrm>
            <a:prstGeom prst="ellipse">
              <a:avLst/>
            </a:prstGeom>
            <a:solidFill>
              <a:srgbClr val="C9B29B"/>
            </a:solidFill>
            <a:ln cap="flat" cmpd="sng" w="54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52275" spcFirstLastPara="1" rIns="52275" wrap="square" tIns="5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9"/>
                <a:buFont typeface="Arial"/>
                <a:buNone/>
              </a:pPr>
              <a:r>
                <a:rPr lang="en" sz="182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sz="800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3528938" y="2947513"/>
              <a:ext cx="603900" cy="603900"/>
            </a:xfrm>
            <a:prstGeom prst="ellipse">
              <a:avLst/>
            </a:prstGeom>
            <a:solidFill>
              <a:srgbClr val="EBE8E5"/>
            </a:solidFill>
            <a:ln cap="flat" cmpd="sng" w="54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52275" spcFirstLastPara="1" rIns="52275" wrap="square" tIns="52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29"/>
                <a:buFont typeface="Arial"/>
                <a:buNone/>
              </a:pPr>
              <a:r>
                <a:rPr lang="en" sz="182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5</a:t>
              </a:r>
              <a:endParaRPr sz="80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324" name="Google Shape;324;p14"/>
          <p:cNvGrpSpPr/>
          <p:nvPr/>
        </p:nvGrpSpPr>
        <p:grpSpPr>
          <a:xfrm>
            <a:off x="6857964" y="3525759"/>
            <a:ext cx="2288140" cy="1614672"/>
            <a:chOff x="2428875" y="1057900"/>
            <a:chExt cx="4290531" cy="3027700"/>
          </a:xfrm>
        </p:grpSpPr>
        <p:sp>
          <p:nvSpPr>
            <p:cNvPr id="325" name="Google Shape;325;p14"/>
            <p:cNvSpPr/>
            <p:nvPr/>
          </p:nvSpPr>
          <p:spPr>
            <a:xfrm>
              <a:off x="2428875" y="1057900"/>
              <a:ext cx="4286400" cy="924600"/>
            </a:xfrm>
            <a:prstGeom prst="roundRect">
              <a:avLst>
                <a:gd fmla="val 19759" name="adj"/>
              </a:avLst>
            </a:prstGeom>
            <a:solidFill>
              <a:srgbClr val="FFFFFF"/>
            </a:solidFill>
            <a:ln cap="flat" cmpd="sng" w="101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6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2428875" y="2109450"/>
              <a:ext cx="4286400" cy="924600"/>
            </a:xfrm>
            <a:prstGeom prst="roundRect">
              <a:avLst>
                <a:gd fmla="val 19759" name="adj"/>
              </a:avLst>
            </a:prstGeom>
            <a:solidFill>
              <a:srgbClr val="ADC2AC"/>
            </a:solidFill>
            <a:ln cap="flat" cmpd="sng" w="101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6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2428875" y="3161000"/>
              <a:ext cx="4286400" cy="924600"/>
            </a:xfrm>
            <a:prstGeom prst="roundRect">
              <a:avLst>
                <a:gd fmla="val 19759" name="adj"/>
              </a:avLst>
            </a:prstGeom>
            <a:solidFill>
              <a:srgbClr val="83AFA8"/>
            </a:solidFill>
            <a:ln cap="flat" cmpd="sng" w="10150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6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28" name="Google Shape;328;p14"/>
            <p:cNvSpPr txBox="1"/>
            <p:nvPr/>
          </p:nvSpPr>
          <p:spPr>
            <a:xfrm>
              <a:off x="2490975" y="1120000"/>
              <a:ext cx="4162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rm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26">
                  <a:latin typeface="Nunito"/>
                  <a:ea typeface="Nunito"/>
                  <a:cs typeface="Nunito"/>
                  <a:sym typeface="Nunito"/>
                </a:rPr>
                <a:t>Visualize</a:t>
              </a:r>
              <a:endParaRPr b="1" sz="202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29" name="Google Shape;329;p14"/>
            <p:cNvSpPr txBox="1"/>
            <p:nvPr/>
          </p:nvSpPr>
          <p:spPr>
            <a:xfrm>
              <a:off x="4629150" y="1120000"/>
              <a:ext cx="20241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33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330" name="Google Shape;330;p14"/>
            <p:cNvSpPr txBox="1"/>
            <p:nvPr/>
          </p:nvSpPr>
          <p:spPr>
            <a:xfrm>
              <a:off x="2490975" y="2229534"/>
              <a:ext cx="41622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rm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26">
                  <a:latin typeface="Nunito"/>
                  <a:ea typeface="Nunito"/>
                  <a:cs typeface="Nunito"/>
                  <a:sym typeface="Nunito"/>
                </a:rPr>
                <a:t>Pivot</a:t>
              </a:r>
              <a:endParaRPr b="1" sz="202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31" name="Google Shape;331;p14"/>
            <p:cNvSpPr txBox="1"/>
            <p:nvPr/>
          </p:nvSpPr>
          <p:spPr>
            <a:xfrm>
              <a:off x="2433006" y="3223079"/>
              <a:ext cx="42864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750" lIns="48750" spcFirstLastPara="1" rIns="48750" wrap="square" tIns="48750">
              <a:noAutofit/>
            </a:bodyPr>
            <a:lstStyle/>
            <a:p>
              <a:pPr indent="0" lvl="0" marL="0" rtl="0" algn="ctr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26">
                  <a:latin typeface="Darker Grotesque"/>
                  <a:ea typeface="Darker Grotesque"/>
                  <a:cs typeface="Darker Grotesque"/>
                  <a:sym typeface="Darker Grotesque"/>
                </a:rPr>
                <a:t>Identify Associations</a:t>
              </a:r>
              <a:endParaRPr b="1" sz="2026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endParaRPr>
            </a:p>
          </p:txBody>
        </p:sp>
      </p:grpSp>
      <p:grpSp>
        <p:nvGrpSpPr>
          <p:cNvPr id="332" name="Google Shape;332;p14"/>
          <p:cNvGrpSpPr/>
          <p:nvPr/>
        </p:nvGrpSpPr>
        <p:grpSpPr>
          <a:xfrm>
            <a:off x="154031" y="3842637"/>
            <a:ext cx="1997611" cy="1183721"/>
            <a:chOff x="2414517" y="435670"/>
            <a:chExt cx="4285800" cy="2133600"/>
          </a:xfrm>
        </p:grpSpPr>
        <p:sp>
          <p:nvSpPr>
            <p:cNvPr id="333" name="Google Shape;333;p14"/>
            <p:cNvSpPr/>
            <p:nvPr/>
          </p:nvSpPr>
          <p:spPr>
            <a:xfrm>
              <a:off x="2414517" y="435670"/>
              <a:ext cx="4285800" cy="2133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34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5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2665187" y="1123853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 cap="flat" cmpd="sng" w="34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3000" spcFirstLastPara="1" rIns="33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33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2</a:t>
              </a:r>
              <a:endParaRPr sz="1433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2664542" y="549895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 cap="flat" cmpd="sng" w="34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3000" spcFirstLastPara="1" rIns="33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33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1</a:t>
              </a:r>
              <a:endParaRPr sz="1433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6" name="Google Shape;336;p14"/>
            <p:cNvSpPr txBox="1"/>
            <p:nvPr/>
          </p:nvSpPr>
          <p:spPr>
            <a:xfrm>
              <a:off x="3492950" y="604929"/>
              <a:ext cx="2880300" cy="4830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33000" wrap="square" tIns="3300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13">
                  <a:latin typeface="Nunito"/>
                  <a:ea typeface="Nunito"/>
                  <a:cs typeface="Nunito"/>
                  <a:sym typeface="Nunito"/>
                </a:rPr>
                <a:t>Demographic Info</a:t>
              </a:r>
              <a:endParaRPr sz="1113"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337" name="Google Shape;337;p14"/>
            <p:cNvCxnSpPr/>
            <p:nvPr/>
          </p:nvCxnSpPr>
          <p:spPr>
            <a:xfrm flipH="1" rot="10800000">
              <a:off x="3109866" y="2210055"/>
              <a:ext cx="3135300" cy="6600"/>
            </a:xfrm>
            <a:prstGeom prst="straightConnector1">
              <a:avLst/>
            </a:prstGeom>
            <a:noFill/>
            <a:ln cap="flat" cmpd="sng" w="34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8" name="Google Shape;338;p14"/>
            <p:cNvSpPr/>
            <p:nvPr/>
          </p:nvSpPr>
          <p:spPr>
            <a:xfrm>
              <a:off x="2665832" y="1756519"/>
              <a:ext cx="483000" cy="483000"/>
            </a:xfrm>
            <a:prstGeom prst="roundRect">
              <a:avLst>
                <a:gd fmla="val 50000" name="adj"/>
              </a:avLst>
            </a:prstGeom>
            <a:solidFill>
              <a:srgbClr val="1B786F"/>
            </a:solidFill>
            <a:ln cap="flat" cmpd="sng" w="34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33000" spcFirstLastPara="1" rIns="33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33">
                  <a:solidFill>
                    <a:schemeClr val="lt1"/>
                  </a:solidFill>
                  <a:latin typeface="Work Sans"/>
                  <a:ea typeface="Work Sans"/>
                  <a:cs typeface="Work Sans"/>
                  <a:sym typeface="Work Sans"/>
                </a:rPr>
                <a:t>3</a:t>
              </a:r>
              <a:endParaRPr sz="1433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3492945" y="1700198"/>
              <a:ext cx="2880300" cy="6759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33000" wrap="square" tIns="3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3">
                  <a:latin typeface="Nunito"/>
                  <a:ea typeface="Nunito"/>
                  <a:cs typeface="Nunito"/>
                  <a:sym typeface="Nunito"/>
                </a:rPr>
                <a:t>Time-series of COVID Related Info</a:t>
              </a:r>
              <a:endParaRPr sz="101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3453254" y="1198430"/>
              <a:ext cx="3246900" cy="4830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33000" wrap="square" tIns="33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13">
                  <a:latin typeface="Nunito"/>
                  <a:ea typeface="Nunito"/>
                  <a:cs typeface="Nunito"/>
                  <a:sym typeface="Nunito"/>
                </a:rPr>
                <a:t>Cancer Mortality Rate</a:t>
              </a:r>
              <a:endParaRPr sz="1113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41" name="Google Shape;341;p14"/>
          <p:cNvSpPr txBox="1"/>
          <p:nvPr/>
        </p:nvSpPr>
        <p:spPr>
          <a:xfrm>
            <a:off x="10750" y="1140321"/>
            <a:ext cx="91440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1"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Goal: </a:t>
            </a:r>
            <a:r>
              <a:rPr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Find any relationships between COVID-19 outcomes, demographic groups, and cancer-mortality rates down to county-level. To do this, we need to </a:t>
            </a:r>
            <a:r>
              <a:rPr lang="en" sz="1307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create a unified data frame source containing data on total COVID deaths and cases, demographic profiles, and cancer deaths</a:t>
            </a:r>
            <a:r>
              <a:rPr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for each county and state.</a:t>
            </a:r>
            <a:endParaRPr sz="1307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1"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Questions:</a:t>
            </a:r>
            <a:endParaRPr b="1" sz="1307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62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8"/>
              <a:buFont typeface="Nunito"/>
              <a:buChar char="-"/>
            </a:pPr>
            <a:r>
              <a:rPr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 counties with higher cancer mortality rates have higher COVID death rates?</a:t>
            </a:r>
            <a:endParaRPr sz="1307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62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8"/>
              <a:buFont typeface="Nunito"/>
              <a:buChar char="-"/>
            </a:pPr>
            <a:r>
              <a:rPr lang="en" sz="1307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Do demographic groups experience different COVID outcomes? If so, what groups are the most vulnerable to COVID?</a:t>
            </a:r>
            <a:endParaRPr sz="1107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Explanation</a:t>
            </a:r>
            <a:endParaRPr/>
          </a:p>
        </p:txBody>
      </p:sp>
      <p:sp>
        <p:nvSpPr>
          <p:cNvPr id="347" name="Google Shape;347;p15"/>
          <p:cNvSpPr txBox="1"/>
          <p:nvPr>
            <p:ph idx="1" type="body"/>
          </p:nvPr>
        </p:nvSpPr>
        <p:spPr>
          <a:xfrm>
            <a:off x="911250" y="1373825"/>
            <a:ext cx="7654500" cy="3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Our first dataset gave general demographics data for each county in the US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>
                <a:solidFill>
                  <a:srgbClr val="000000"/>
                </a:solidFill>
              </a:rPr>
              <a:t>Shows population distribution across sex and race, showing total male, female, white, black, and hispanic population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The second dataset shows Covid-19 data across counties in the US for dates spanning from 1/20/2020 to 12/04/2020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>
                <a:solidFill>
                  <a:srgbClr val="000000"/>
                </a:solidFill>
              </a:rPr>
              <a:t>For each day, it shows the number of cases and deaths cumulative since the beginning of Covid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The third dataset we chose shows cancer death rates per county in the US </a:t>
            </a:r>
            <a:endParaRPr sz="1100">
              <a:solidFill>
                <a:srgbClr val="000000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>
                <a:solidFill>
                  <a:srgbClr val="000000"/>
                </a:solidFill>
              </a:rPr>
              <a:t>Shows cancer rates over the five year range of 2019-2023</a:t>
            </a:r>
            <a:endParaRPr>
              <a:solidFill>
                <a:srgbClr val="000000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>
                <a:solidFill>
                  <a:srgbClr val="000000"/>
                </a:solidFill>
              </a:rPr>
              <a:t>The data is </a:t>
            </a:r>
            <a:r>
              <a:rPr lang="en">
                <a:solidFill>
                  <a:srgbClr val="000000"/>
                </a:solidFill>
              </a:rPr>
              <a:t>estimated and gives a confidence interval as well as a mean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 sz="1100">
                <a:solidFill>
                  <a:srgbClr val="000000"/>
                </a:solidFill>
              </a:rPr>
              <a:t>All datasets have a FIPS code, which is a unique identifier for each county, which we used for data merging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Merging</a:t>
            </a:r>
            <a:endParaRPr/>
          </a:p>
        </p:txBody>
      </p:sp>
      <p:sp>
        <p:nvSpPr>
          <p:cNvPr id="353" name="Google Shape;353;p16"/>
          <p:cNvSpPr txBox="1"/>
          <p:nvPr>
            <p:ph idx="1" type="body"/>
          </p:nvPr>
        </p:nvSpPr>
        <p:spPr>
          <a:xfrm>
            <a:off x="588700" y="1446525"/>
            <a:ext cx="80874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- For data merging, we link the time-series COVID-19 data with the static demographic data.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- the FIPs code is a common key, which will be used to create a single, unified Data Frame that is ready for analysis.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100" y="2785825"/>
            <a:ext cx="5143551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 txBox="1"/>
          <p:nvPr/>
        </p:nvSpPr>
        <p:spPr>
          <a:xfrm>
            <a:off x="5616575" y="2452175"/>
            <a:ext cx="3271200" cy="2067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1100">
                <a:latin typeface="Nunito"/>
                <a:ea typeface="Nunito"/>
                <a:cs typeface="Nunito"/>
                <a:sym typeface="Nunito"/>
              </a:rPr>
              <a:t>Two data frames were merged using the FIPS column that appears in both datasets.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- a left join is performed, meaning all rows from the first data frame (covid_us_df) are kept, and then all the matching rows from the second data frame (covid_counties_df), are added if they are available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Nunito"/>
                <a:ea typeface="Nunito"/>
                <a:cs typeface="Nunito"/>
                <a:sym typeface="Nunito"/>
              </a:rPr>
              <a:t>- Final combined dataset is stored in merged_df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361" name="Google Shape;361;p17"/>
          <p:cNvSpPr txBox="1"/>
          <p:nvPr>
            <p:ph idx="1" type="body"/>
          </p:nvPr>
        </p:nvSpPr>
        <p:spPr>
          <a:xfrm>
            <a:off x="222750" y="1255925"/>
            <a:ext cx="8698500" cy="87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Removed unnecessary/irrelevant columns, grouped data by columns, and 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augmented missing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 data.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Tried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 to  to minimize the size of our dataset while retaining all of the necessary information before beginning our analysis phase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1457875" y="3906825"/>
            <a:ext cx="1742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432825" y="2021425"/>
            <a:ext cx="7775400" cy="28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A2C"/>
              </a:buClr>
              <a:buSzPts val="1700"/>
              <a:buFont typeface="Nunito"/>
              <a:buAutoNum type="arabicPeriod"/>
            </a:pPr>
            <a:r>
              <a:rPr b="1" lang="en" sz="1700">
                <a:solidFill>
                  <a:srgbClr val="282A2C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Checked for duplicates</a:t>
            </a:r>
            <a:endParaRPr b="1" sz="1700">
              <a:solidFill>
                <a:srgbClr val="282A2C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"Number of duplicated rows:"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merged_df.duplicated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1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A2C"/>
              </a:buClr>
              <a:buSzPts val="1700"/>
              <a:buFont typeface="Nunito"/>
              <a:buAutoNum type="arabicPeriod"/>
            </a:pPr>
            <a:r>
              <a:rPr b="1" lang="en" sz="1700">
                <a:solidFill>
                  <a:srgbClr val="282A2C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Replace invalid data entries with NaN ('*' and '')</a:t>
            </a:r>
            <a:endParaRPr b="1" sz="1700">
              <a:solidFill>
                <a:srgbClr val="282A2C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columns_to_replace = 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'Upper 95% CI for Death Rate'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'Avg Deaths per Year (Cancer)'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merged_df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columns_to_replace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 merged_df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columns_to_replace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.replace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'*'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np.nan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np.nan</a:t>
            </a:r>
            <a:r>
              <a:rPr lang="en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merged_df</a:t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82A2C"/>
              </a:buClr>
              <a:buSzPts val="1700"/>
              <a:buFont typeface="Nunito"/>
              <a:buAutoNum type="arabicPeriod"/>
            </a:pPr>
            <a:r>
              <a:rPr b="1" lang="en" sz="1700">
                <a:solidFill>
                  <a:srgbClr val="282A2C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Convert 'Date' column to datetime format</a:t>
            </a:r>
            <a:endParaRPr b="1" sz="1700">
              <a:solidFill>
                <a:srgbClr val="282A2C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2B76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# Convert 'Date' column to datetime format</a:t>
            </a:r>
            <a:endParaRPr sz="1150">
              <a:solidFill>
                <a:srgbClr val="82B76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merged_df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'Date'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= pd.to_datetime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merged_df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'Date'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format=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"%Y-%m-%d"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"'Date' Column Type:"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merged_df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1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'Date'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1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.dtype</a:t>
            </a:r>
            <a:r>
              <a:rPr lang="en" sz="11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highlight>
                <a:schemeClr val="dk2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282A2C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Sorting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 txBox="1"/>
          <p:nvPr>
            <p:ph idx="1" type="body"/>
          </p:nvPr>
        </p:nvSpPr>
        <p:spPr>
          <a:xfrm>
            <a:off x="80350" y="1410650"/>
            <a:ext cx="8947200" cy="1683000"/>
          </a:xfrm>
          <a:prstGeom prst="rect">
            <a:avLst/>
          </a:prstGeom>
          <a:ln cap="flat" cmpd="sng" w="9525">
            <a:solidFill>
              <a:srgbClr val="28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205"/>
              <a:t>Data sorting is used to help </a:t>
            </a:r>
            <a:r>
              <a:rPr lang="en" sz="1205" u="sng"/>
              <a:t>extract cumulative COVID case and death totals for each county</a:t>
            </a:r>
            <a:r>
              <a:rPr lang="en" sz="1205"/>
              <a:t> during data aggregation. This also allows for time series analysis to be possible for any county and state.</a:t>
            </a:r>
            <a:endParaRPr sz="12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205"/>
              <a:t>Sorting </a:t>
            </a:r>
            <a:r>
              <a:rPr b="1" lang="en" sz="1205"/>
              <a:t>filtered_df</a:t>
            </a:r>
            <a:r>
              <a:rPr lang="en" sz="1205"/>
              <a:t> by County -&gt; Date using </a:t>
            </a:r>
            <a:r>
              <a:rPr b="1" lang="en" sz="1205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sort_values()</a:t>
            </a:r>
            <a:r>
              <a:rPr lang="en" sz="1205">
                <a:latin typeface="Consolas"/>
                <a:ea typeface="Consolas"/>
                <a:cs typeface="Consolas"/>
                <a:sym typeface="Consolas"/>
              </a:rPr>
              <a:t>:</a:t>
            </a:r>
            <a:br>
              <a:rPr lang="en" sz="1205"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205">
                <a:latin typeface="Consolas"/>
                <a:ea typeface="Consolas"/>
                <a:cs typeface="Consolas"/>
                <a:sym typeface="Consolas"/>
              </a:rPr>
            </a:br>
            <a:endParaRPr sz="1205">
              <a:latin typeface="Consolas"/>
              <a:ea typeface="Consolas"/>
              <a:cs typeface="Consolas"/>
              <a:sym typeface="Consolas"/>
            </a:endParaRPr>
          </a:p>
          <a:p>
            <a:pPr indent="-3051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Char char="-"/>
            </a:pPr>
            <a:r>
              <a:rPr lang="en" sz="1205"/>
              <a:t>Returns a Dataframe where each county is displayed in chronological order</a:t>
            </a:r>
            <a:endParaRPr sz="1205"/>
          </a:p>
          <a:p>
            <a:pPr indent="-3051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Char char="-"/>
            </a:pPr>
            <a:r>
              <a:rPr b="1" lang="en" sz="1205">
                <a:latin typeface="Consolas"/>
                <a:ea typeface="Consolas"/>
                <a:cs typeface="Consolas"/>
                <a:sym typeface="Consolas"/>
              </a:rPr>
              <a:t>inplace=True</a:t>
            </a:r>
            <a:r>
              <a:rPr b="1" lang="en" sz="1205"/>
              <a:t> </a:t>
            </a:r>
            <a:r>
              <a:rPr lang="en" sz="1205"/>
              <a:t>modifies the data frame without creating a copy</a:t>
            </a:r>
            <a:endParaRPr sz="1205"/>
          </a:p>
        </p:txBody>
      </p:sp>
      <p:cxnSp>
        <p:nvCxnSpPr>
          <p:cNvPr id="370" name="Google Shape;370;p18"/>
          <p:cNvCxnSpPr/>
          <p:nvPr/>
        </p:nvCxnSpPr>
        <p:spPr>
          <a:xfrm flipH="1" rot="10800000">
            <a:off x="1278000" y="1296385"/>
            <a:ext cx="77154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18"/>
          <p:cNvSpPr txBox="1"/>
          <p:nvPr/>
        </p:nvSpPr>
        <p:spPr>
          <a:xfrm>
            <a:off x="1752850" y="2245478"/>
            <a:ext cx="5516100" cy="39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rgbClr val="28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filtered_df.sort_values(by</a:t>
            </a:r>
            <a:r>
              <a:rPr lang="en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00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‘FIPS’</a:t>
            </a: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00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‘Date’</a:t>
            </a: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 sz="13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inplace</a:t>
            </a:r>
            <a:r>
              <a:rPr lang="en" sz="1300">
                <a:solidFill>
                  <a:srgbClr val="00FF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3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3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372" name="Google Shape;372;p18"/>
          <p:cNvGraphicFramePr/>
          <p:nvPr/>
        </p:nvGraphicFramePr>
        <p:xfrm>
          <a:off x="151745" y="3245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{2BF7CA86-E906-456C-B9C8-2AB948D06787}</a:tableStyleId>
              </a:tblPr>
              <a:tblGrid>
                <a:gridCol w="713150"/>
                <a:gridCol w="966900"/>
                <a:gridCol w="1496850"/>
              </a:tblGrid>
              <a:tr h="3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FIPS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Date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County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18157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2020-03-25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Tippecanoe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53061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2020-03-25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Snohomish</a:t>
                      </a: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18157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2020-03-26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Tippecanoe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53061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2020-03-26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Snohomish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3" name="Google Shape;373;p18"/>
          <p:cNvGraphicFramePr/>
          <p:nvPr/>
        </p:nvGraphicFramePr>
        <p:xfrm>
          <a:off x="5816332" y="320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{2BF7CA86-E906-456C-B9C8-2AB948D06787}</a:tableStyleId>
              </a:tblPr>
              <a:tblGrid>
                <a:gridCol w="589700"/>
                <a:gridCol w="1013925"/>
                <a:gridCol w="1561975"/>
              </a:tblGrid>
              <a:tr h="35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FIPS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Date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County</a:t>
                      </a:r>
                      <a:endParaRPr b="1" sz="110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5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18157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2020-03-25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Tippecanoe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  <a:tr h="35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18157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2020-03-26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Tippecanoe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5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53061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2020-03-25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Snohomish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53061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2020-03-26</a:t>
                      </a:r>
                      <a:endParaRPr b="1"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Snohomish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74" name="Google Shape;374;p18"/>
          <p:cNvSpPr/>
          <p:nvPr/>
        </p:nvSpPr>
        <p:spPr>
          <a:xfrm>
            <a:off x="3716135" y="3836175"/>
            <a:ext cx="1761600" cy="999300"/>
          </a:xfrm>
          <a:prstGeom prst="homePlate">
            <a:avLst>
              <a:gd fmla="val 50000" name="adj"/>
            </a:avLst>
          </a:prstGeom>
          <a:solidFill>
            <a:srgbClr val="83AF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3775750" y="2997300"/>
            <a:ext cx="1470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3873502" y="3334884"/>
            <a:ext cx="1419600" cy="256500"/>
          </a:xfrm>
          <a:prstGeom prst="flowChartAlternateProcess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sort_values()</a:t>
            </a:r>
            <a:endParaRPr b="1"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3670308" y="3897825"/>
            <a:ext cx="1559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Groups data by the county’s FIPS code, then by date.</a:t>
            </a:r>
            <a:endParaRPr b="1"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5586117" y="3606675"/>
            <a:ext cx="187500" cy="256500"/>
          </a:xfrm>
          <a:prstGeom prst="mathEqual">
            <a:avLst>
              <a:gd fmla="val 18954" name="adj1"/>
              <a:gd fmla="val 11760" name="adj2"/>
            </a:avLst>
          </a:prstGeom>
          <a:solidFill>
            <a:srgbClr val="D4D4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5564221" y="4022038"/>
            <a:ext cx="187500" cy="172500"/>
          </a:xfrm>
          <a:prstGeom prst="triangle">
            <a:avLst>
              <a:gd fmla="val 50000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p18"/>
          <p:cNvSpPr/>
          <p:nvPr/>
        </p:nvSpPr>
        <p:spPr>
          <a:xfrm rot="10800000">
            <a:off x="5564221" y="4407193"/>
            <a:ext cx="187500" cy="1725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5575185" y="4695525"/>
            <a:ext cx="187500" cy="256500"/>
          </a:xfrm>
          <a:prstGeom prst="mathEqual">
            <a:avLst>
              <a:gd fmla="val 18954" name="adj1"/>
              <a:gd fmla="val 11760" name="adj2"/>
            </a:avLst>
          </a:prstGeom>
          <a:solidFill>
            <a:srgbClr val="D4D4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Filtering and Data Aggregation</a:t>
            </a:r>
            <a:endParaRPr/>
          </a:p>
        </p:txBody>
      </p:sp>
      <p:sp>
        <p:nvSpPr>
          <p:cNvPr id="387" name="Google Shape;387;p19"/>
          <p:cNvSpPr txBox="1"/>
          <p:nvPr>
            <p:ph idx="1" type="body"/>
          </p:nvPr>
        </p:nvSpPr>
        <p:spPr>
          <a:xfrm>
            <a:off x="222750" y="1323600"/>
            <a:ext cx="8698500" cy="62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We used data filtering to only focus on specific time frames, specific columns, and specific rows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This was used to create modified data frames to assist in our visualizations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432825" y="2021425"/>
            <a:ext cx="77754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Nunito"/>
              <a:buAutoNum type="arabicPeriod"/>
            </a:pPr>
            <a:r>
              <a:rPr b="1" lang="en" sz="17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Filtered data to only include </a:t>
            </a:r>
            <a:r>
              <a:rPr b="1" lang="en" sz="17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dates</a:t>
            </a:r>
            <a:r>
              <a:rPr b="1" lang="en" sz="17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from 1/20/2020 - 12/04/2020</a:t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9" name="Google Shape;389;p19" title="Screenshot 2025-12-07 at 4.09.35 PM.png"/>
          <p:cNvPicPr preferRelativeResize="0"/>
          <p:nvPr/>
        </p:nvPicPr>
        <p:blipFill rotWithShape="1">
          <a:blip r:embed="rId3">
            <a:alphaModFix/>
          </a:blip>
          <a:srcRect b="0" l="1912" r="0" t="0"/>
          <a:stretch/>
        </p:blipFill>
        <p:spPr>
          <a:xfrm>
            <a:off x="957150" y="2407025"/>
            <a:ext cx="6990149" cy="5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19" title="Screenshot 2025-12-07 at 4.12.2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075" y="3020725"/>
            <a:ext cx="3875874" cy="19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9"/>
          <p:cNvSpPr txBox="1"/>
          <p:nvPr/>
        </p:nvSpPr>
        <p:spPr>
          <a:xfrm>
            <a:off x="432825" y="3339750"/>
            <a:ext cx="33669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 2.    Created new dataframe to only include final rows of time series data</a:t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/>
          <p:nvPr/>
        </p:nvSpPr>
        <p:spPr>
          <a:xfrm>
            <a:off x="232575" y="3023625"/>
            <a:ext cx="1317900" cy="498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177200" y="3112250"/>
            <a:ext cx="1492500" cy="409800"/>
          </a:xfrm>
          <a:prstGeom prst="flowChartAlternateProcess">
            <a:avLst/>
          </a:prstGeom>
          <a:solidFill>
            <a:srgbClr val="C9B29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33225" y="2824275"/>
            <a:ext cx="9059700" cy="2274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9" name="Google Shape;39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</a:t>
            </a:r>
            <a:endParaRPr/>
          </a:p>
        </p:txBody>
      </p:sp>
      <p:sp>
        <p:nvSpPr>
          <p:cNvPr id="400" name="Google Shape;400;p20"/>
          <p:cNvSpPr txBox="1"/>
          <p:nvPr>
            <p:ph idx="1" type="body"/>
          </p:nvPr>
        </p:nvSpPr>
        <p:spPr>
          <a:xfrm>
            <a:off x="1303800" y="1185075"/>
            <a:ext cx="7030500" cy="9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High COVID and cancer cases and deaths naturally scale with population size. Augmenting data is necessary to avoid bias during </a:t>
            </a:r>
            <a:r>
              <a:rPr lang="en" sz="1310"/>
              <a:t>analysis.</a:t>
            </a:r>
            <a:endParaRPr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10"/>
              <a:t>Standardization Formulas:</a:t>
            </a:r>
            <a:endParaRPr i="1" sz="124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240"/>
          </a:p>
        </p:txBody>
      </p:sp>
      <p:cxnSp>
        <p:nvCxnSpPr>
          <p:cNvPr id="401" name="Google Shape;401;p20"/>
          <p:cNvCxnSpPr/>
          <p:nvPr/>
        </p:nvCxnSpPr>
        <p:spPr>
          <a:xfrm>
            <a:off x="1794234" y="3267305"/>
            <a:ext cx="262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20"/>
          <p:cNvSpPr/>
          <p:nvPr/>
        </p:nvSpPr>
        <p:spPr>
          <a:xfrm>
            <a:off x="2159585" y="2940605"/>
            <a:ext cx="141000" cy="653400"/>
          </a:xfrm>
          <a:prstGeom prst="bracePair">
            <a:avLst/>
          </a:prstGeom>
          <a:noFill/>
          <a:ln cap="flat" cmpd="sng" w="38100">
            <a:solidFill>
              <a:srgbClr val="005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202175" y="3018100"/>
            <a:ext cx="1492500" cy="4983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Standardized Case and Death Rates</a:t>
            </a:r>
            <a:endParaRPr b="1"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2159584" y="3835078"/>
            <a:ext cx="141000" cy="916500"/>
          </a:xfrm>
          <a:prstGeom prst="bracePair">
            <a:avLst/>
          </a:prstGeom>
          <a:noFill/>
          <a:ln cap="flat" cmpd="sng" w="38100">
            <a:solidFill>
              <a:srgbClr val="005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199350" y="4078700"/>
            <a:ext cx="1492500" cy="4983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Demographic Group Percentages</a:t>
            </a:r>
            <a:endParaRPr b="1"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06" name="Google Shape;406;p20"/>
          <p:cNvCxnSpPr/>
          <p:nvPr/>
        </p:nvCxnSpPr>
        <p:spPr>
          <a:xfrm>
            <a:off x="1777634" y="4315480"/>
            <a:ext cx="262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20"/>
          <p:cNvSpPr/>
          <p:nvPr/>
        </p:nvSpPr>
        <p:spPr>
          <a:xfrm>
            <a:off x="2159584" y="4817871"/>
            <a:ext cx="141000" cy="152700"/>
          </a:xfrm>
          <a:prstGeom prst="bracePair">
            <a:avLst/>
          </a:prstGeom>
          <a:noFill/>
          <a:ln cap="flat" cmpd="sng" w="38100">
            <a:solidFill>
              <a:srgbClr val="005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2223059" y="2868480"/>
            <a:ext cx="6645300" cy="220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COVID Cases per 100K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COVID Cases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100000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COVID Deaths per 100K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Deaths (COVID)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100000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Cancer Deaths per 100K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Avg Deaths per Year (Cancer)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100000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CDD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Male Pct (%)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Male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Female Pct (%)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Female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White Pct (%)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White Alone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Black Pct (%)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Black or African American Alone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Hispanic/Latino Pct (%)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Hispanic or Latino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Population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COVID Death Rate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Total Deaths (COVID)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en" sz="800">
                <a:solidFill>
                  <a:srgbClr val="EBA0AC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i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COVID Cases</a:t>
            </a:r>
            <a:r>
              <a:rPr b="1" lang="en" sz="800">
                <a:solidFill>
                  <a:srgbClr val="A6E3A1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800">
                <a:solidFill>
                  <a:srgbClr val="9399B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94E2D5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1" lang="en" sz="800">
                <a:solidFill>
                  <a:srgbClr val="CDD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800">
                <a:solidFill>
                  <a:srgbClr val="FAB38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 sz="800">
              <a:solidFill>
                <a:srgbClr val="FAB38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09" name="Google Shape;409;p20"/>
          <p:cNvCxnSpPr/>
          <p:nvPr/>
        </p:nvCxnSpPr>
        <p:spPr>
          <a:xfrm>
            <a:off x="1794234" y="4894230"/>
            <a:ext cx="262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20"/>
          <p:cNvSpPr txBox="1"/>
          <p:nvPr/>
        </p:nvSpPr>
        <p:spPr>
          <a:xfrm>
            <a:off x="188100" y="4689325"/>
            <a:ext cx="1492500" cy="383400"/>
          </a:xfrm>
          <a:prstGeom prst="rect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Case Fatality Rate</a:t>
            </a:r>
            <a:endParaRPr b="1"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1550575" y="2035054"/>
            <a:ext cx="6689700" cy="711600"/>
          </a:xfrm>
          <a:prstGeom prst="rect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770"/>
              <a:buFont typeface="Arial"/>
              <a:buNone/>
            </a:pPr>
            <a:r>
              <a:rPr i="1" lang="en" sz="124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Cases/Deaths Per 100K = (County Count / Total County Population) x 100,000</a:t>
            </a:r>
            <a:br>
              <a:rPr i="1" lang="en" sz="124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r>
              <a:rPr i="1" lang="en" sz="124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	Population Percentage = (Total Demographic Count / Total County Population) x 100</a:t>
            </a:r>
            <a:br>
              <a:rPr i="1" lang="en" sz="124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r>
              <a:rPr i="1" lang="en" sz="1240">
                <a:solidFill>
                  <a:schemeClr val="dk2"/>
                </a:solidFill>
                <a:latin typeface="Cambria Math"/>
                <a:ea typeface="Cambria Math"/>
                <a:cs typeface="Cambria Math"/>
                <a:sym typeface="Cambria Math"/>
              </a:rPr>
              <a:t>	Case Fatality Rate = (Total COVID Deaths / Total COVID Cases) x 100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/>
          <p:nvPr/>
        </p:nvSpPr>
        <p:spPr>
          <a:xfrm>
            <a:off x="7175700" y="4269901"/>
            <a:ext cx="1196100" cy="312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7175700" y="3599575"/>
            <a:ext cx="1196100" cy="3129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276900" y="3555250"/>
            <a:ext cx="3034800" cy="372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9" name="Google Shape;419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Dataframes Used for Our Analysis</a:t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>
            <a:off x="1417650" y="1243575"/>
            <a:ext cx="193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Demographics Dataset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1417650" y="1575724"/>
            <a:ext cx="193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COVID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Dataset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1417650" y="1899670"/>
            <a:ext cx="193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Cancer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Dataset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3" name="Google Shape;423;p21"/>
          <p:cNvCxnSpPr>
            <a:stCxn id="420" idx="3"/>
            <a:endCxn id="424" idx="1"/>
          </p:cNvCxnSpPr>
          <p:nvPr/>
        </p:nvCxnSpPr>
        <p:spPr>
          <a:xfrm>
            <a:off x="3355950" y="1420725"/>
            <a:ext cx="5979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1"/>
          <p:cNvCxnSpPr>
            <a:endCxn id="424" idx="1"/>
          </p:cNvCxnSpPr>
          <p:nvPr/>
        </p:nvCxnSpPr>
        <p:spPr>
          <a:xfrm>
            <a:off x="2924075" y="1705575"/>
            <a:ext cx="102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1"/>
          <p:cNvCxnSpPr>
            <a:endCxn id="424" idx="1"/>
          </p:cNvCxnSpPr>
          <p:nvPr/>
        </p:nvCxnSpPr>
        <p:spPr>
          <a:xfrm flipH="1" rot="10800000">
            <a:off x="2901875" y="1705575"/>
            <a:ext cx="1052100" cy="37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21"/>
          <p:cNvSpPr txBox="1"/>
          <p:nvPr/>
        </p:nvSpPr>
        <p:spPr>
          <a:xfrm>
            <a:off x="3953975" y="1340025"/>
            <a:ext cx="1628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Load (</a:t>
            </a: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read_csv)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,, capitalize all columns,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7" name="Google Shape;427;p21"/>
          <p:cNvCxnSpPr/>
          <p:nvPr/>
        </p:nvCxnSpPr>
        <p:spPr>
          <a:xfrm flipH="1" rot="10800000">
            <a:off x="5637453" y="1694475"/>
            <a:ext cx="8973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21"/>
          <p:cNvSpPr txBox="1"/>
          <p:nvPr/>
        </p:nvSpPr>
        <p:spPr>
          <a:xfrm>
            <a:off x="6733950" y="1423125"/>
            <a:ext cx="13179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Merge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Data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merge()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9" name="Google Shape;429;p21"/>
          <p:cNvCxnSpPr>
            <a:stCxn id="428" idx="2"/>
          </p:cNvCxnSpPr>
          <p:nvPr/>
        </p:nvCxnSpPr>
        <p:spPr>
          <a:xfrm>
            <a:off x="7392900" y="1988025"/>
            <a:ext cx="5700" cy="5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0" name="Google Shape;430;p21"/>
          <p:cNvSpPr txBox="1"/>
          <p:nvPr/>
        </p:nvSpPr>
        <p:spPr>
          <a:xfrm>
            <a:off x="6163500" y="2564025"/>
            <a:ext cx="24588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Clean Data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drop()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replace({‘*’: np.nan})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1" name="Google Shape;431;p21"/>
          <p:cNvCxnSpPr/>
          <p:nvPr/>
        </p:nvCxnSpPr>
        <p:spPr>
          <a:xfrm rot="10800000">
            <a:off x="5582075" y="2890800"/>
            <a:ext cx="77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21"/>
          <p:cNvSpPr txBox="1"/>
          <p:nvPr/>
        </p:nvSpPr>
        <p:spPr>
          <a:xfrm>
            <a:off x="5195124" y="3346296"/>
            <a:ext cx="1140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Aggregate Data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groupby()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4248750" y="2624925"/>
            <a:ext cx="1140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Sort Data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sort_values()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4" name="Google Shape;434;p21"/>
          <p:cNvCxnSpPr/>
          <p:nvPr/>
        </p:nvCxnSpPr>
        <p:spPr>
          <a:xfrm rot="10800000">
            <a:off x="2591775" y="2890800"/>
            <a:ext cx="142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1"/>
          <p:cNvSpPr txBox="1"/>
          <p:nvPr/>
        </p:nvSpPr>
        <p:spPr>
          <a:xfrm>
            <a:off x="1226437" y="2692194"/>
            <a:ext cx="17721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Augment Data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6" name="Google Shape;436;p21"/>
          <p:cNvCxnSpPr/>
          <p:nvPr/>
        </p:nvCxnSpPr>
        <p:spPr>
          <a:xfrm>
            <a:off x="3355950" y="3735150"/>
            <a:ext cx="15507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21"/>
          <p:cNvSpPr txBox="1"/>
          <p:nvPr/>
        </p:nvSpPr>
        <p:spPr>
          <a:xfrm>
            <a:off x="268456" y="3528323"/>
            <a:ext cx="3488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filtered_df</a:t>
            </a:r>
            <a:r>
              <a:rPr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(for time-series analysis)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8" name="Google Shape;438;p21"/>
          <p:cNvCxnSpPr/>
          <p:nvPr/>
        </p:nvCxnSpPr>
        <p:spPr>
          <a:xfrm>
            <a:off x="1894288" y="3157225"/>
            <a:ext cx="27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21"/>
          <p:cNvSpPr txBox="1"/>
          <p:nvPr/>
        </p:nvSpPr>
        <p:spPr>
          <a:xfrm>
            <a:off x="7254377" y="3553895"/>
            <a:ext cx="3488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county_df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7320830" y="4242101"/>
            <a:ext cx="3488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state_df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41" name="Google Shape;441;p21"/>
          <p:cNvCxnSpPr/>
          <p:nvPr/>
        </p:nvCxnSpPr>
        <p:spPr>
          <a:xfrm>
            <a:off x="7772400" y="3929200"/>
            <a:ext cx="2700" cy="3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21"/>
          <p:cNvCxnSpPr/>
          <p:nvPr/>
        </p:nvCxnSpPr>
        <p:spPr>
          <a:xfrm>
            <a:off x="6388000" y="3740700"/>
            <a:ext cx="6894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 txBox="1"/>
          <p:nvPr>
            <p:ph type="title"/>
          </p:nvPr>
        </p:nvSpPr>
        <p:spPr>
          <a:xfrm>
            <a:off x="1444200" y="1570500"/>
            <a:ext cx="6255600" cy="20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Visualizations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"/>
          <p:cNvSpPr txBox="1"/>
          <p:nvPr>
            <p:ph type="title"/>
          </p:nvPr>
        </p:nvSpPr>
        <p:spPr>
          <a:xfrm>
            <a:off x="1157250" y="532825"/>
            <a:ext cx="7030500" cy="5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National COVID Cases and Deaths Overtime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23" title="Screenshot 2025-12-05 at 7.12.27 PM.png"/>
          <p:cNvPicPr preferRelativeResize="0"/>
          <p:nvPr/>
        </p:nvPicPr>
        <p:blipFill rotWithShape="1">
          <a:blip r:embed="rId3">
            <a:alphaModFix/>
          </a:blip>
          <a:srcRect b="2803" l="998" r="2083" t="2490"/>
          <a:stretch/>
        </p:blipFill>
        <p:spPr>
          <a:xfrm>
            <a:off x="298225" y="1357525"/>
            <a:ext cx="4030499" cy="1995724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3"/>
          <p:cNvSpPr txBox="1"/>
          <p:nvPr/>
        </p:nvSpPr>
        <p:spPr>
          <a:xfrm>
            <a:off x="6053500" y="2287300"/>
            <a:ext cx="309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476250" y="3505150"/>
            <a:ext cx="3774000" cy="151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U.S. cases rise sharply through 2020, especially mid-year onward.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Deaths increase steadily but remain far below case levels.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Growing gap between cases and deaths suggests improved testing and treatment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6" name="Google Shape;4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500" y="1196163"/>
            <a:ext cx="3714624" cy="239082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7" name="Google Shape;457;p23"/>
          <p:cNvSpPr txBox="1"/>
          <p:nvPr/>
        </p:nvSpPr>
        <p:spPr>
          <a:xfrm>
            <a:off x="4473175" y="3652725"/>
            <a:ext cx="4387500" cy="137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few states (mainly New Jersey, New York, Massachusetts, and Connecticut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) have a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noticeably higher death-per-case ratios.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Bigger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states like California, Texas, and Florida had a lot of cases but much lower fatality ratios, showing that having more cases doesn’t 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correlate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automatically to more severe outcomes.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"/>
          <p:cNvSpPr txBox="1"/>
          <p:nvPr>
            <p:ph type="title"/>
          </p:nvPr>
        </p:nvSpPr>
        <p:spPr>
          <a:xfrm>
            <a:off x="1255450" y="530900"/>
            <a:ext cx="70305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OVID Mortality Rate vs. Demographics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251375" y="1358800"/>
            <a:ext cx="3055200" cy="358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These series of graphs show the relationship between Covid </a:t>
            </a: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deaths per 100K people vs percentages of sex and race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Correlations are decently low, but there are some trends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When counties have more or less than an even male-female split, death rates decrease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Higher white percentage counties have higher death rates, whereas higher black and latino counties have a lower rate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4" name="Google Shape;4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325" y="1311625"/>
            <a:ext cx="5532627" cy="3676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"/>
          <p:cNvSpPr txBox="1"/>
          <p:nvPr>
            <p:ph type="title"/>
          </p:nvPr>
        </p:nvSpPr>
        <p:spPr>
          <a:xfrm>
            <a:off x="1314875" y="5663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Covid Deaths per 100k by State</a:t>
            </a:r>
            <a:endParaRPr sz="1300"/>
          </a:p>
        </p:txBody>
      </p:sp>
      <p:sp>
        <p:nvSpPr>
          <p:cNvPr id="470" name="Google Shape;470;p25"/>
          <p:cNvSpPr txBox="1"/>
          <p:nvPr/>
        </p:nvSpPr>
        <p:spPr>
          <a:xfrm>
            <a:off x="6611800" y="1953250"/>
            <a:ext cx="2288700" cy="2185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From New Jersey t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Vermont, Covid Deaths per 100k gradually decreased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S</a:t>
            </a: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tarting at around 180k at New Jersey going all the way around 15k at Vermont, showing the decrease of Covid Mortality by state.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1" name="Google Shape;471;p25" title="Screenshot 2025-12-07 at 10.19.47 PM.png"/>
          <p:cNvPicPr preferRelativeResize="0"/>
          <p:nvPr/>
        </p:nvPicPr>
        <p:blipFill rotWithShape="1">
          <a:blip r:embed="rId3">
            <a:alphaModFix/>
          </a:blip>
          <a:srcRect b="0" l="0" r="3586" t="0"/>
          <a:stretch/>
        </p:blipFill>
        <p:spPr>
          <a:xfrm>
            <a:off x="97425" y="1747150"/>
            <a:ext cx="6403548" cy="27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COVID Cases and Deaths per 100k by State</a:t>
            </a:r>
            <a:endParaRPr/>
          </a:p>
        </p:txBody>
      </p:sp>
      <p:sp>
        <p:nvSpPr>
          <p:cNvPr id="477" name="Google Shape;477;p26"/>
          <p:cNvSpPr txBox="1"/>
          <p:nvPr/>
        </p:nvSpPr>
        <p:spPr>
          <a:xfrm>
            <a:off x="6242075" y="1759475"/>
            <a:ext cx="2669700" cy="298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This bar graph shows the correlation between Covid Cases and Deaths per 100k by State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Overall, this shows that no matter how many cases there are for each state, it doesn’t necessarily always mean there will be more deaths if there are more cases reported.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Conclusion: Covid Cases and Covid Deaths have little to no correlation to each other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75" y="1597875"/>
            <a:ext cx="5804051" cy="33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/>
          <p:nvPr/>
        </p:nvSpPr>
        <p:spPr>
          <a:xfrm>
            <a:off x="5348249" y="52818"/>
            <a:ext cx="3700800" cy="1577100"/>
          </a:xfrm>
          <a:prstGeom prst="rect">
            <a:avLst/>
          </a:prstGeom>
          <a:solidFill>
            <a:srgbClr val="EBE8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4" name="Google Shape;484;p27"/>
          <p:cNvSpPr txBox="1"/>
          <p:nvPr>
            <p:ph type="title"/>
          </p:nvPr>
        </p:nvSpPr>
        <p:spPr>
          <a:xfrm>
            <a:off x="147625" y="24175"/>
            <a:ext cx="48735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Relationships between </a:t>
            </a:r>
            <a:r>
              <a:rPr lang="en" sz="2020"/>
              <a:t>Demographics</a:t>
            </a:r>
            <a:r>
              <a:rPr lang="en" sz="2020"/>
              <a:t> and COVID</a:t>
            </a:r>
            <a:endParaRPr b="0" sz="580"/>
          </a:p>
        </p:txBody>
      </p:sp>
      <p:pic>
        <p:nvPicPr>
          <p:cNvPr id="485" name="Google Shape;4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20" y="748963"/>
            <a:ext cx="4959510" cy="43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7"/>
          <p:cNvSpPr/>
          <p:nvPr/>
        </p:nvSpPr>
        <p:spPr>
          <a:xfrm rot="2399041">
            <a:off x="5549047" y="171332"/>
            <a:ext cx="147999" cy="291927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5425034" y="623339"/>
            <a:ext cx="396000" cy="413700"/>
          </a:xfrm>
          <a:prstGeom prst="ellipse">
            <a:avLst/>
          </a:prstGeom>
          <a:solidFill>
            <a:srgbClr val="DCDCDC"/>
          </a:solidFill>
          <a:ln cap="flat" cmpd="sng" w="309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250" lIns="74250" spcFirstLastPara="1" rIns="74250" wrap="square" tIns="7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 rot="5400000">
            <a:off x="5548947" y="684345"/>
            <a:ext cx="148200" cy="291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9" name="Google Shape;489;p27"/>
          <p:cNvSpPr/>
          <p:nvPr/>
        </p:nvSpPr>
        <p:spPr>
          <a:xfrm rot="8100000">
            <a:off x="5549062" y="1189767"/>
            <a:ext cx="148068" cy="29189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90" name="Google Shape;490;p27"/>
          <p:cNvGrpSpPr/>
          <p:nvPr/>
        </p:nvGrpSpPr>
        <p:grpSpPr>
          <a:xfrm>
            <a:off x="5420574" y="117843"/>
            <a:ext cx="3413324" cy="411765"/>
            <a:chOff x="1354688" y="2026421"/>
            <a:chExt cx="3161656" cy="334225"/>
          </a:xfrm>
        </p:grpSpPr>
        <p:sp>
          <p:nvSpPr>
            <p:cNvPr id="491" name="Google Shape;491;p27"/>
            <p:cNvSpPr/>
            <p:nvPr/>
          </p:nvSpPr>
          <p:spPr>
            <a:xfrm>
              <a:off x="1354688" y="2026421"/>
              <a:ext cx="366900" cy="321300"/>
            </a:xfrm>
            <a:prstGeom prst="ellipse">
              <a:avLst/>
            </a:prstGeom>
            <a:solidFill>
              <a:schemeClr val="accent2"/>
            </a:solidFill>
            <a:ln cap="flat" cmpd="sng" w="41100">
              <a:solidFill>
                <a:srgbClr val="A7291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700" lIns="98700" spcFirstLastPara="1" rIns="98700" wrap="square" tIns="98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7"/>
            <p:cNvSpPr txBox="1"/>
            <p:nvPr/>
          </p:nvSpPr>
          <p:spPr>
            <a:xfrm>
              <a:off x="1560444" y="2039346"/>
              <a:ext cx="2955900" cy="3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8700" lIns="98700" spcFirstLastPara="1" rIns="98700" wrap="square" tIns="987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Positive </a:t>
              </a:r>
              <a:r>
                <a:rPr i="1" lang="en" sz="1100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r</a:t>
              </a:r>
              <a:r>
                <a:rPr lang="en" sz="1100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:</a:t>
              </a:r>
              <a:r>
                <a:rPr b="1" lang="en" sz="11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 </a:t>
              </a:r>
              <a:r>
                <a:rPr lang="en" sz="11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Variables increase together</a:t>
              </a:r>
              <a:endPara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93" name="Google Shape;493;p27"/>
          <p:cNvSpPr txBox="1"/>
          <p:nvPr/>
        </p:nvSpPr>
        <p:spPr>
          <a:xfrm>
            <a:off x="5965773" y="674317"/>
            <a:ext cx="29013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b" bIns="74250" lIns="74250" spcFirstLastPara="1" rIns="74250" wrap="square" tIns="742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1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r</a:t>
            </a:r>
            <a:r>
              <a:rPr lang="en" sz="1112">
                <a:solidFill>
                  <a:schemeClr val="dk2"/>
                </a:solidFill>
                <a:latin typeface="Nunito Black"/>
                <a:ea typeface="Nunito Black"/>
                <a:cs typeface="Nunito Black"/>
                <a:sym typeface="Nunito Black"/>
              </a:rPr>
              <a:t> = ~0:</a:t>
            </a:r>
            <a:r>
              <a:rPr b="1" lang="en" sz="1112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12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Their association does not predict each other’s outcome</a:t>
            </a:r>
            <a:endParaRPr sz="1112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94" name="Google Shape;494;p27"/>
          <p:cNvGrpSpPr/>
          <p:nvPr/>
        </p:nvGrpSpPr>
        <p:grpSpPr>
          <a:xfrm>
            <a:off x="5442039" y="1140448"/>
            <a:ext cx="3551403" cy="495093"/>
            <a:chOff x="1354686" y="2026422"/>
            <a:chExt cx="4372572" cy="534196"/>
          </a:xfrm>
        </p:grpSpPr>
        <p:sp>
          <p:nvSpPr>
            <p:cNvPr id="495" name="Google Shape;495;p27"/>
            <p:cNvSpPr/>
            <p:nvPr/>
          </p:nvSpPr>
          <p:spPr>
            <a:xfrm>
              <a:off x="1354686" y="2026422"/>
              <a:ext cx="487500" cy="446400"/>
            </a:xfrm>
            <a:prstGeom prst="ellipse">
              <a:avLst/>
            </a:prstGeom>
            <a:solidFill>
              <a:srgbClr val="4A86E8"/>
            </a:solidFill>
            <a:ln cap="flat" cmpd="sng" w="309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50" lIns="74250" spcFirstLastPara="1" rIns="74250" wrap="square" tIns="74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7"/>
            <p:cNvSpPr txBox="1"/>
            <p:nvPr/>
          </p:nvSpPr>
          <p:spPr>
            <a:xfrm>
              <a:off x="1975758" y="2114218"/>
              <a:ext cx="3751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4250" lIns="74250" spcFirstLastPara="1" rIns="74250" wrap="square" tIns="742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12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Negative </a:t>
              </a:r>
              <a:r>
                <a:rPr i="1" lang="en" sz="1112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r</a:t>
              </a:r>
              <a:r>
                <a:rPr lang="en" sz="1112">
                  <a:solidFill>
                    <a:schemeClr val="dk2"/>
                  </a:solidFill>
                  <a:latin typeface="Nunito Black"/>
                  <a:ea typeface="Nunito Black"/>
                  <a:cs typeface="Nunito Black"/>
                  <a:sym typeface="Nunito Black"/>
                </a:rPr>
                <a:t>: </a:t>
              </a:r>
              <a:r>
                <a:rPr lang="en" sz="1112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As one variable increases, another decreases</a:t>
              </a:r>
              <a:endParaRPr sz="1112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97" name="Google Shape;497;p27"/>
          <p:cNvSpPr/>
          <p:nvPr/>
        </p:nvSpPr>
        <p:spPr>
          <a:xfrm rot="2695082">
            <a:off x="5548977" y="161087"/>
            <a:ext cx="148280" cy="29189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8" name="Google Shape;498;p27"/>
          <p:cNvSpPr/>
          <p:nvPr/>
        </p:nvSpPr>
        <p:spPr>
          <a:xfrm rot="8100000">
            <a:off x="5572229" y="1200467"/>
            <a:ext cx="148068" cy="29189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99" name="Google Shape;499;p27"/>
          <p:cNvGrpSpPr/>
          <p:nvPr/>
        </p:nvGrpSpPr>
        <p:grpSpPr>
          <a:xfrm>
            <a:off x="5358751" y="1694637"/>
            <a:ext cx="3700889" cy="2159270"/>
            <a:chOff x="1076065" y="974700"/>
            <a:chExt cx="7005279" cy="3194187"/>
          </a:xfrm>
        </p:grpSpPr>
        <p:sp>
          <p:nvSpPr>
            <p:cNvPr id="500" name="Google Shape;500;p27"/>
            <p:cNvSpPr txBox="1"/>
            <p:nvPr/>
          </p:nvSpPr>
          <p:spPr>
            <a:xfrm>
              <a:off x="6418005" y="2927199"/>
              <a:ext cx="918600" cy="24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Strategic 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budgeting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01" name="Google Shape;501;p27"/>
            <p:cNvSpPr txBox="1"/>
            <p:nvPr/>
          </p:nvSpPr>
          <p:spPr>
            <a:xfrm>
              <a:off x="6357701" y="3377044"/>
              <a:ext cx="1123800" cy="39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3"/>
                </a:spcAft>
                <a:buSzPts val="522"/>
                <a:buNone/>
              </a:pPr>
              <a:r>
                <a:rPr lang="en" sz="379">
                  <a:latin typeface="IBM Plex Mono"/>
                  <a:ea typeface="IBM Plex Mono"/>
                  <a:cs typeface="IBM Plex Mono"/>
                  <a:sym typeface="IBM Plex Mono"/>
                </a:rPr>
                <a:t>Decrease avg time-to-hire by 20%. Achieve 50% participation in leadership program. </a:t>
              </a:r>
              <a:endParaRPr sz="379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502" name="Google Shape;502;p27"/>
            <p:cNvSpPr txBox="1"/>
            <p:nvPr/>
          </p:nvSpPr>
          <p:spPr>
            <a:xfrm>
              <a:off x="6412773" y="3665194"/>
              <a:ext cx="828600" cy="41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4825" lIns="44825" spcFirstLastPara="1" rIns="44825" wrap="square" tIns="44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2">
                  <a:latin typeface="Lexend Light"/>
                  <a:ea typeface="Lexend Light"/>
                  <a:cs typeface="Lexend Light"/>
                  <a:sym typeface="Lexend Light"/>
                </a:rPr>
                <a:t>XX</a:t>
              </a:r>
              <a:endParaRPr sz="612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5721109" y="974712"/>
              <a:ext cx="2057100" cy="3194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2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7425335" y="974700"/>
              <a:ext cx="642600" cy="3194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8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05" name="Google Shape;505;p27"/>
            <p:cNvSpPr txBox="1"/>
            <p:nvPr/>
          </p:nvSpPr>
          <p:spPr>
            <a:xfrm>
              <a:off x="7651711" y="3604525"/>
              <a:ext cx="311100" cy="41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93">
                <a:solidFill>
                  <a:srgbClr val="20212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6" name="Google Shape;506;p27"/>
            <p:cNvSpPr txBox="1"/>
            <p:nvPr/>
          </p:nvSpPr>
          <p:spPr>
            <a:xfrm>
              <a:off x="6362644" y="1975674"/>
              <a:ext cx="1718700" cy="210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 BLACK AND HISPANIC POPULATION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 COVID       DEATHS</a:t>
              </a:r>
              <a:r>
                <a:rPr b="1" lang="en" sz="1112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	</a:t>
              </a:r>
              <a:endParaRPr b="1" sz="1112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123"/>
                </a:spcAft>
                <a:buSzPts val="522"/>
                <a:buNone/>
              </a:pPr>
              <a:r>
                <a:t/>
              </a:r>
              <a:endParaRPr b="1" sz="625">
                <a:solidFill>
                  <a:srgbClr val="202124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4657605" y="2927199"/>
              <a:ext cx="918600" cy="24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Strategic 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budgeting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08" name="Google Shape;508;p27"/>
            <p:cNvSpPr txBox="1"/>
            <p:nvPr/>
          </p:nvSpPr>
          <p:spPr>
            <a:xfrm>
              <a:off x="4597301" y="3377044"/>
              <a:ext cx="1123800" cy="39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3"/>
                </a:spcAft>
                <a:buSzPts val="522"/>
                <a:buNone/>
              </a:pPr>
              <a:r>
                <a:rPr lang="en" sz="379">
                  <a:latin typeface="IBM Plex Mono"/>
                  <a:ea typeface="IBM Plex Mono"/>
                  <a:cs typeface="IBM Plex Mono"/>
                  <a:sym typeface="IBM Plex Mono"/>
                </a:rPr>
                <a:t>Decrease avg time-to-hire by 20%. Achieve 50% participation in leadership program. </a:t>
              </a:r>
              <a:endParaRPr sz="379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509" name="Google Shape;509;p27"/>
            <p:cNvSpPr txBox="1"/>
            <p:nvPr/>
          </p:nvSpPr>
          <p:spPr>
            <a:xfrm>
              <a:off x="4652373" y="3665194"/>
              <a:ext cx="828600" cy="41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4825" lIns="44825" spcFirstLastPara="1" rIns="44825" wrap="square" tIns="44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2">
                  <a:latin typeface="Lexend Light"/>
                  <a:ea typeface="Lexend Light"/>
                  <a:cs typeface="Lexend Light"/>
                  <a:sym typeface="Lexend Light"/>
                </a:rPr>
                <a:t>XX</a:t>
              </a:r>
              <a:endParaRPr sz="612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>
              <a:off x="3998564" y="974712"/>
              <a:ext cx="2019300" cy="3194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2">
                <a:solidFill>
                  <a:srgbClr val="202124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5664935" y="974700"/>
              <a:ext cx="642600" cy="3194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8">
                <a:solidFill>
                  <a:srgbClr val="202124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2" name="Google Shape;512;p27"/>
            <p:cNvSpPr txBox="1"/>
            <p:nvPr/>
          </p:nvSpPr>
          <p:spPr>
            <a:xfrm>
              <a:off x="4680626" y="1280525"/>
              <a:ext cx="1521900" cy="72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93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4624427" y="1966289"/>
              <a:ext cx="1793700" cy="210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Gender 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COVID Outcomes Unchanged</a:t>
              </a:r>
              <a:r>
                <a:rPr b="1" lang="en" sz="1112">
                  <a:solidFill>
                    <a:schemeClr val="dk2"/>
                  </a:solidFill>
                  <a:latin typeface="Bebas Neue"/>
                  <a:ea typeface="Bebas Neue"/>
                  <a:cs typeface="Bebas Neue"/>
                  <a:sym typeface="Bebas Neue"/>
                </a:rPr>
                <a:t>	</a:t>
              </a:r>
              <a:endParaRPr b="1" sz="1112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123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4" name="Google Shape;514;p27"/>
            <p:cNvSpPr txBox="1"/>
            <p:nvPr/>
          </p:nvSpPr>
          <p:spPr>
            <a:xfrm>
              <a:off x="2935059" y="2927199"/>
              <a:ext cx="918600" cy="24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Strategic 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budgeting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5" name="Google Shape;515;p27"/>
            <p:cNvSpPr txBox="1"/>
            <p:nvPr/>
          </p:nvSpPr>
          <p:spPr>
            <a:xfrm>
              <a:off x="2874755" y="3377044"/>
              <a:ext cx="1123800" cy="39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3"/>
                </a:spcAft>
                <a:buSzPts val="522"/>
                <a:buNone/>
              </a:pPr>
              <a:r>
                <a:rPr lang="en" sz="379">
                  <a:latin typeface="IBM Plex Mono"/>
                  <a:ea typeface="IBM Plex Mono"/>
                  <a:cs typeface="IBM Plex Mono"/>
                  <a:sym typeface="IBM Plex Mono"/>
                </a:rPr>
                <a:t>Decrease avg time-to-hire by 20%. Achieve 50% participation in leadership program. </a:t>
              </a:r>
              <a:endParaRPr sz="379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516" name="Google Shape;516;p27"/>
            <p:cNvSpPr txBox="1"/>
            <p:nvPr/>
          </p:nvSpPr>
          <p:spPr>
            <a:xfrm>
              <a:off x="2929827" y="3665194"/>
              <a:ext cx="828600" cy="41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4825" lIns="44825" spcFirstLastPara="1" rIns="44825" wrap="square" tIns="44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2">
                  <a:latin typeface="Lexend Light"/>
                  <a:ea typeface="Lexend Light"/>
                  <a:cs typeface="Lexend Light"/>
                  <a:sym typeface="Lexend Light"/>
                </a:rPr>
                <a:t>XX</a:t>
              </a:r>
              <a:endParaRPr sz="612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2069551" y="974712"/>
              <a:ext cx="2192100" cy="3194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2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3908728" y="974700"/>
              <a:ext cx="642600" cy="3194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8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19" name="Google Shape;519;p27"/>
            <p:cNvSpPr txBox="1"/>
            <p:nvPr/>
          </p:nvSpPr>
          <p:spPr>
            <a:xfrm>
              <a:off x="2868086" y="1966286"/>
              <a:ext cx="1718700" cy="220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SzPts val="522"/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 MALE POPULATION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 COVID Deaths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spcBef>
                  <a:spcPts val="123"/>
                </a:spcBef>
                <a:spcAft>
                  <a:spcPts val="123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20" name="Google Shape;520;p27"/>
            <p:cNvSpPr txBox="1"/>
            <p:nvPr/>
          </p:nvSpPr>
          <p:spPr>
            <a:xfrm>
              <a:off x="1184684" y="2927199"/>
              <a:ext cx="918600" cy="24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Strategic 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38">
                  <a:solidFill>
                    <a:srgbClr val="282929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budgeting</a:t>
              </a:r>
              <a:endParaRPr b="1" sz="1838">
                <a:solidFill>
                  <a:srgbClr val="282929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21" name="Google Shape;521;p27"/>
            <p:cNvSpPr txBox="1"/>
            <p:nvPr/>
          </p:nvSpPr>
          <p:spPr>
            <a:xfrm>
              <a:off x="1124380" y="3377044"/>
              <a:ext cx="1123800" cy="39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3"/>
                </a:spcAft>
                <a:buSzPts val="522"/>
                <a:buNone/>
              </a:pPr>
              <a:r>
                <a:rPr lang="en" sz="379">
                  <a:latin typeface="IBM Plex Mono"/>
                  <a:ea typeface="IBM Plex Mono"/>
                  <a:cs typeface="IBM Plex Mono"/>
                  <a:sym typeface="IBM Plex Mono"/>
                </a:rPr>
                <a:t>Decrease avg time-to-hire by 20%. Achieve 50% participation in leadership program. </a:t>
              </a:r>
              <a:endParaRPr sz="379">
                <a:latin typeface="IBM Plex Mono"/>
                <a:ea typeface="IBM Plex Mono"/>
                <a:cs typeface="IBM Plex Mono"/>
                <a:sym typeface="IBM Plex Mono"/>
              </a:endParaRPr>
            </a:p>
          </p:txBody>
        </p:sp>
        <p:sp>
          <p:nvSpPr>
            <p:cNvPr id="522" name="Google Shape;522;p27"/>
            <p:cNvSpPr txBox="1"/>
            <p:nvPr/>
          </p:nvSpPr>
          <p:spPr>
            <a:xfrm>
              <a:off x="1179452" y="3665194"/>
              <a:ext cx="828600" cy="41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4825" lIns="44825" spcFirstLastPara="1" rIns="44825" wrap="square" tIns="44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2">
                  <a:latin typeface="Lexend Light"/>
                  <a:ea typeface="Lexend Light"/>
                  <a:cs typeface="Lexend Light"/>
                  <a:sym typeface="Lexend Light"/>
                </a:rPr>
                <a:t>XX</a:t>
              </a:r>
              <a:endParaRPr sz="612"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1076065" y="974700"/>
              <a:ext cx="1468800" cy="3194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2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2192014" y="974700"/>
              <a:ext cx="642600" cy="3194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6025" lIns="56025" spcFirstLastPara="1" rIns="56025" wrap="square" tIns="56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8"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  <p:sp>
          <p:nvSpPr>
            <p:cNvPr id="525" name="Google Shape;525;p27"/>
            <p:cNvSpPr txBox="1"/>
            <p:nvPr/>
          </p:nvSpPr>
          <p:spPr>
            <a:xfrm>
              <a:off x="1115956" y="1952380"/>
              <a:ext cx="1718700" cy="210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0" lIns="56025" spcFirstLastPara="1" rIns="56025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522"/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 Cancer Mortality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t/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Higher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0"/>
                </a:spcAft>
                <a:buSzPts val="522"/>
                <a:buNone/>
              </a:pPr>
              <a:r>
                <a:rPr b="1" lang="en" sz="1112">
                  <a:solidFill>
                    <a:schemeClr val="lt1"/>
                  </a:solidFill>
                  <a:latin typeface="Bebas Neue"/>
                  <a:ea typeface="Bebas Neue"/>
                  <a:cs typeface="Bebas Neue"/>
                  <a:sym typeface="Bebas Neue"/>
                </a:rPr>
                <a:t>COVID Deaths </a:t>
              </a:r>
              <a:endParaRPr b="1" sz="1112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123"/>
                </a:spcBef>
                <a:spcAft>
                  <a:spcPts val="123"/>
                </a:spcAft>
                <a:buSzPts val="522"/>
                <a:buNone/>
              </a:pPr>
              <a:r>
                <a:t/>
              </a:r>
              <a:endParaRPr b="1" sz="625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pic>
        <p:nvPicPr>
          <p:cNvPr id="526" name="Google Shape;5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6205" y="1893437"/>
            <a:ext cx="3960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1271" y="1869667"/>
            <a:ext cx="3960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6349" y="1869664"/>
            <a:ext cx="3960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12332" y="1820123"/>
            <a:ext cx="495100" cy="4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7"/>
          <p:cNvSpPr/>
          <p:nvPr/>
        </p:nvSpPr>
        <p:spPr>
          <a:xfrm>
            <a:off x="7507499" y="2913526"/>
            <a:ext cx="311400" cy="28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5678499" y="2913514"/>
            <a:ext cx="311400" cy="28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6603574" y="2913526"/>
            <a:ext cx="311400" cy="28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8411424" y="2913526"/>
            <a:ext cx="311400" cy="283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34" name="Google Shape;534;p27"/>
          <p:cNvCxnSpPr/>
          <p:nvPr/>
        </p:nvCxnSpPr>
        <p:spPr>
          <a:xfrm flipH="1">
            <a:off x="5238725" y="-22150"/>
            <a:ext cx="11100" cy="5172300"/>
          </a:xfrm>
          <a:prstGeom prst="straightConnector1">
            <a:avLst/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5" name="Google Shape;535;p27"/>
          <p:cNvGrpSpPr/>
          <p:nvPr/>
        </p:nvGrpSpPr>
        <p:grpSpPr>
          <a:xfrm>
            <a:off x="5358771" y="3918640"/>
            <a:ext cx="1069141" cy="1136390"/>
            <a:chOff x="1126863" y="2013875"/>
            <a:chExt cx="1944600" cy="1569600"/>
          </a:xfrm>
        </p:grpSpPr>
        <p:sp>
          <p:nvSpPr>
            <p:cNvPr id="536" name="Google Shape;536;p27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59375" lIns="59375" spcFirstLastPara="1" rIns="59375" wrap="square" tIns="59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 txBox="1"/>
            <p:nvPr/>
          </p:nvSpPr>
          <p:spPr>
            <a:xfrm>
              <a:off x="1351633" y="2108595"/>
              <a:ext cx="1451700" cy="13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375" lIns="59375" spcFirstLastPara="1" rIns="59375" wrap="square" tIns="593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39"/>
                </a:spcAft>
                <a:buNone/>
              </a:pPr>
              <a:r>
                <a:t/>
              </a:r>
              <a:endParaRPr sz="141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538" name="Google Shape;538;p27"/>
          <p:cNvGrpSpPr/>
          <p:nvPr/>
        </p:nvGrpSpPr>
        <p:grpSpPr>
          <a:xfrm>
            <a:off x="6426574" y="3918676"/>
            <a:ext cx="2633075" cy="1156946"/>
            <a:chOff x="3071457" y="2013875"/>
            <a:chExt cx="1946964" cy="1597991"/>
          </a:xfrm>
        </p:grpSpPr>
        <p:sp>
          <p:nvSpPr>
            <p:cNvPr id="539" name="Google Shape;539;p27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59375" lIns="59375" spcFirstLastPara="1" rIns="59375" wrap="square" tIns="59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 txBox="1"/>
            <p:nvPr/>
          </p:nvSpPr>
          <p:spPr>
            <a:xfrm>
              <a:off x="3073821" y="2042266"/>
              <a:ext cx="19446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9375" lIns="59375" spcFirstLastPara="1" rIns="59375" wrap="square" tIns="59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500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R</a:t>
              </a:r>
              <a:r>
                <a:rPr b="1" i="1" lang="en" sz="1500">
                  <a:solidFill>
                    <a:srgbClr val="E6E8F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² Value </a:t>
              </a:r>
              <a:r>
                <a:rPr b="1" lang="en" sz="1500">
                  <a:solidFill>
                    <a:srgbClr val="E6E8F0"/>
                  </a:solidFill>
                  <a:latin typeface="Bebas Neue"/>
                  <a:ea typeface="Bebas Neue"/>
                  <a:cs typeface="Bebas Neue"/>
                  <a:sym typeface="Bebas Neue"/>
                </a:rPr>
                <a:t>between COVID Deaths per 100K and DEMOGRAPHIC PROFILES:</a:t>
              </a:r>
              <a:endParaRPr b="1" sz="1500">
                <a:solidFill>
                  <a:srgbClr val="E6E8F0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100">
                <a:solidFill>
                  <a:srgbClr val="E6E8F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6E8F0"/>
                  </a:solidFill>
                  <a:latin typeface="Nunito"/>
                  <a:ea typeface="Nunito"/>
                  <a:cs typeface="Nunito"/>
                  <a:sym typeface="Nunito"/>
                </a:rPr>
                <a:t>Hispanic Pct (%): </a:t>
              </a:r>
              <a:r>
                <a:rPr lang="en" sz="1100">
                  <a:solidFill>
                    <a:srgbClr val="E6E8F0"/>
                  </a:solidFill>
                  <a:latin typeface="Nunito"/>
                  <a:ea typeface="Nunito"/>
                  <a:cs typeface="Nunito"/>
                  <a:sym typeface="Nunito"/>
                </a:rPr>
                <a:t>0.048</a:t>
              </a:r>
              <a:endParaRPr sz="1100">
                <a:solidFill>
                  <a:srgbClr val="E6E8F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6E8F0"/>
                  </a:solidFill>
                  <a:latin typeface="Nunito"/>
                  <a:ea typeface="Nunito"/>
                  <a:cs typeface="Nunito"/>
                  <a:sym typeface="Nunito"/>
                </a:rPr>
                <a:t>Black Pct (%): </a:t>
              </a:r>
              <a:r>
                <a:rPr lang="en" sz="1100">
                  <a:solidFill>
                    <a:srgbClr val="E6E8F0"/>
                  </a:solidFill>
                  <a:latin typeface="Nunito"/>
                  <a:ea typeface="Nunito"/>
                  <a:cs typeface="Nunito"/>
                  <a:sym typeface="Nunito"/>
                </a:rPr>
                <a:t>0.016</a:t>
              </a:r>
              <a:endParaRPr sz="1100">
                <a:solidFill>
                  <a:srgbClr val="E6E8F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6E8F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6E8F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541" name="Google Shape;54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34738" y="4079773"/>
            <a:ext cx="717201" cy="71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Pivoting</a:t>
            </a:r>
            <a:endParaRPr/>
          </a:p>
        </p:txBody>
      </p:sp>
      <p:sp>
        <p:nvSpPr>
          <p:cNvPr id="547" name="Google Shape;547;p28"/>
          <p:cNvSpPr txBox="1"/>
          <p:nvPr>
            <p:ph idx="1" type="body"/>
          </p:nvPr>
        </p:nvSpPr>
        <p:spPr>
          <a:xfrm>
            <a:off x="222750" y="1323600"/>
            <a:ext cx="8698500" cy="629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We used data pivoting to show 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different</a:t>
            </a: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 statistics across multiple columns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  <a:highlight>
                  <a:schemeClr val="lt1"/>
                </a:highlight>
              </a:rPr>
              <a:t>Our use of pivoting helped us create the graph on the last slide</a:t>
            </a:r>
            <a:endParaRPr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pic>
        <p:nvPicPr>
          <p:cNvPr id="548" name="Google Shape;548;p28" title="Screenshot 2025-12-07 at 5.41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050" y="2100275"/>
            <a:ext cx="5665725" cy="8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8" title="Screenshot 2025-12-07 at 5.41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0050" y="3188008"/>
            <a:ext cx="5665724" cy="150339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8"/>
          <p:cNvSpPr txBox="1"/>
          <p:nvPr/>
        </p:nvSpPr>
        <p:spPr>
          <a:xfrm>
            <a:off x="432825" y="2640200"/>
            <a:ext cx="27288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We used a pivot table to find the mean and median for Covid cases and deaths per 100k across the cancer quartiles</a:t>
            </a:r>
            <a:endParaRPr sz="13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F1F1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/>
              <a:t>COVID Mortality Rate by Cancer Mortality Quartiles</a:t>
            </a:r>
            <a:endParaRPr sz="235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825" y="1597875"/>
            <a:ext cx="3986749" cy="2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9"/>
          <p:cNvSpPr txBox="1"/>
          <p:nvPr/>
        </p:nvSpPr>
        <p:spPr>
          <a:xfrm>
            <a:off x="4982200" y="1597875"/>
            <a:ext cx="3636600" cy="142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25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0"/>
              <a:buChar char="●"/>
            </a:pPr>
            <a:r>
              <a:rPr lang="en" sz="850"/>
              <a:t>The chart groups U.S. counties into </a:t>
            </a:r>
            <a:r>
              <a:rPr b="1" lang="en" sz="850"/>
              <a:t>four quartiles</a:t>
            </a:r>
            <a:r>
              <a:rPr lang="en" sz="850"/>
              <a:t> based on their </a:t>
            </a:r>
            <a:r>
              <a:rPr b="1" lang="en" sz="850"/>
              <a:t>cancer death rates</a:t>
            </a:r>
            <a:r>
              <a:rPr lang="en" sz="850"/>
              <a:t>, from lowest (Q1) to highest (Q4).</a:t>
            </a:r>
            <a:endParaRPr sz="850"/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/>
              <a:t>For each quartile, it displays:</a:t>
            </a:r>
            <a:endParaRPr sz="850"/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0"/>
              <a:buChar char="○"/>
            </a:pPr>
            <a:r>
              <a:rPr b="1" lang="en" sz="850"/>
              <a:t>Median COVID deaths per 100,000</a:t>
            </a:r>
            <a:r>
              <a:rPr lang="en" sz="850"/>
              <a:t> (blue bars)</a:t>
            </a:r>
            <a:endParaRPr sz="850"/>
          </a:p>
          <a:p>
            <a:pPr indent="-2825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0"/>
              <a:buChar char="○"/>
            </a:pPr>
            <a:r>
              <a:rPr b="1" lang="en" sz="850"/>
              <a:t>Maximum COVID deaths per 100,000</a:t>
            </a:r>
            <a:r>
              <a:rPr lang="en" sz="850"/>
              <a:t> (orange bars)</a:t>
            </a:r>
            <a:endParaRPr sz="850"/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/>
              <a:t>This shows how COVID mortality changes depending on how healthy or unhealthy a county already is</a:t>
            </a:r>
            <a:endParaRPr sz="8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850"/>
            </a:br>
            <a:endParaRPr sz="8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p29"/>
          <p:cNvSpPr txBox="1"/>
          <p:nvPr/>
        </p:nvSpPr>
        <p:spPr>
          <a:xfrm>
            <a:off x="4982200" y="3160325"/>
            <a:ext cx="3636600" cy="1518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b="1" lang="en" sz="800"/>
              <a:t>COVID death rates rise as cancer mortality rises.</a:t>
            </a:r>
            <a:endParaRPr b="1" sz="800"/>
          </a:p>
          <a:p>
            <a:pPr indent="-2222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Q1 (lowest cancer mortality): </a:t>
            </a:r>
            <a:r>
              <a:rPr b="1" lang="en" sz="800"/>
              <a:t>54.6</a:t>
            </a:r>
            <a:r>
              <a:rPr lang="en" sz="800"/>
              <a:t> median COVID deaths per 100K</a:t>
            </a:r>
            <a:endParaRPr sz="800"/>
          </a:p>
          <a:p>
            <a:pPr indent="-2222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Q4 (highest cancer mortality): </a:t>
            </a:r>
            <a:r>
              <a:rPr b="1" lang="en" sz="800"/>
              <a:t>75.2</a:t>
            </a:r>
            <a:r>
              <a:rPr lang="en" sz="800"/>
              <a:t> median COVID deaths per 100K</a:t>
            </a:r>
            <a:endParaRPr sz="800"/>
          </a:p>
          <a:p>
            <a:pPr indent="-222250" lvl="1" marL="5143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This trend suggests that counties with worse underlying health were more vulnerable during COVID.</a:t>
            </a:r>
            <a:endParaRPr sz="800"/>
          </a:p>
          <a:p>
            <a:pPr indent="-1651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Counties with high cancer mortality also saw some of the highest COVID death spikes.</a:t>
            </a:r>
            <a:endParaRPr sz="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Citation</a:t>
            </a:r>
            <a:endParaRPr/>
          </a:p>
        </p:txBody>
      </p:sp>
      <p:sp>
        <p:nvSpPr>
          <p:cNvPr id="564" name="Google Shape;564;p30"/>
          <p:cNvSpPr txBox="1"/>
          <p:nvPr>
            <p:ph idx="1" type="body"/>
          </p:nvPr>
        </p:nvSpPr>
        <p:spPr>
          <a:xfrm>
            <a:off x="1509925" y="1990050"/>
            <a:ext cx="6507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Demographics Data: </a:t>
            </a:r>
            <a:r>
              <a:rPr lang="en" u="sng">
                <a:solidFill>
                  <a:schemeClr val="hlink"/>
                </a:solidFill>
                <a:hlinkClick r:id="rId3"/>
              </a:rPr>
              <a:t>Demographics: Population, Race, Gender Data County | Kaggle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Covid Data: </a:t>
            </a:r>
            <a:r>
              <a:rPr lang="en" u="sng">
                <a:solidFill>
                  <a:schemeClr val="hlink"/>
                </a:solidFill>
                <a:hlinkClick r:id="rId4"/>
              </a:rPr>
              <a:t>COVID-19 in USA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Cancer Data: </a:t>
            </a:r>
            <a:r>
              <a:rPr lang="en" u="sng">
                <a:solidFill>
                  <a:schemeClr val="hlink"/>
                </a:solidFill>
                <a:hlinkClick r:id="rId5"/>
              </a:rPr>
              <a:t>County Cancer Death Rates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746E6E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